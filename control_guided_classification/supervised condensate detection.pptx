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4664afac5c645a0" /><Relationship Type="http://schemas.openxmlformats.org/officeDocument/2006/relationships/extended-properties" Target="/docProps/app.xml" Id="Ra1c4ed43ff744dcb" /><Relationship Type="http://schemas.openxmlformats.org/officeDocument/2006/relationships/officeDocument" Target="/ppt/presentation.xml" Id="R767041d30ce1401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1774fd11a404c2b"/>
  </p:sldMasterIdLst>
  <p:notesMasterIdLst>
    <p:notesMasterId xmlns:r="http://schemas.openxmlformats.org/officeDocument/2006/relationships" r:id="R5568a5ae891744d3"/>
  </p:notesMasterIdLst>
  <p:sldIdLst>
    <p:sldId xmlns:r="http://schemas.openxmlformats.org/officeDocument/2006/relationships" id="256" r:id="Rb7f5b828eb354a8c"/>
    <p:sldId xmlns:r="http://schemas.openxmlformats.org/officeDocument/2006/relationships" id="257" r:id="R76a33c8607244f96"/>
    <p:sldId xmlns:r="http://schemas.openxmlformats.org/officeDocument/2006/relationships" id="258" r:id="R63a0fc41f2194c97"/>
    <p:sldId xmlns:r="http://schemas.openxmlformats.org/officeDocument/2006/relationships" id="259" r:id="R7f8107b0d81d4e60"/>
    <p:sldId xmlns:r="http://schemas.openxmlformats.org/officeDocument/2006/relationships" id="260" r:id="Rcb7ec48ef0814218"/>
    <p:sldId xmlns:r="http://schemas.openxmlformats.org/officeDocument/2006/relationships" id="261" r:id="R7f586740bcb54e68"/>
    <p:sldId xmlns:r="http://schemas.openxmlformats.org/officeDocument/2006/relationships" id="262" r:id="Re64a70729e3e4916"/>
    <p:sldId xmlns:r="http://schemas.openxmlformats.org/officeDocument/2006/relationships" id="263" r:id="R69c2f12e83804ee3"/>
    <p:sldId xmlns:r="http://schemas.openxmlformats.org/officeDocument/2006/relationships" id="264" r:id="R3149592e7d294ded"/>
    <p:sldId xmlns:r="http://schemas.openxmlformats.org/officeDocument/2006/relationships" id="265" r:id="R5a9eb5a3325e4cf5"/>
    <p:sldId xmlns:r="http://schemas.openxmlformats.org/officeDocument/2006/relationships" id="266" r:id="R1113060643134321"/>
    <p:sldId xmlns:r="http://schemas.openxmlformats.org/officeDocument/2006/relationships" id="267" r:id="Re16e3edda0e54c86"/>
    <p:sldId xmlns:r="http://schemas.openxmlformats.org/officeDocument/2006/relationships" id="268" r:id="R499cb93812f24574"/>
    <p:sldId xmlns:r="http://schemas.openxmlformats.org/officeDocument/2006/relationships" id="269" r:id="R0f4d490657da4e05"/>
    <p:sldId xmlns:r="http://schemas.openxmlformats.org/officeDocument/2006/relationships" id="270" r:id="R19231d7c9283459e"/>
    <p:sldId xmlns:r="http://schemas.openxmlformats.org/officeDocument/2006/relationships" id="271" r:id="R4181414ded2b42dd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1774fd11a404c2b" /><Relationship Type="http://schemas.openxmlformats.org/officeDocument/2006/relationships/theme" Target="/ppt/theme/theme1.xml" Id="R31353b9254c54a0c" /><Relationship Type="http://schemas.openxmlformats.org/officeDocument/2006/relationships/notesMaster" Target="/ppt/notesMasters/notesMaster1.xml" Id="R5568a5ae891744d3" /><Relationship Type="http://schemas.openxmlformats.org/officeDocument/2006/relationships/presProps" Target="/ppt/presProps.xml" Id="Rf66b28a0f370426f" /><Relationship Type="http://schemas.openxmlformats.org/officeDocument/2006/relationships/viewProps" Target="/ppt/viewProps.xml" Id="R3ab703d8d2e941fd" /><Relationship Type="http://schemas.openxmlformats.org/officeDocument/2006/relationships/tableStyles" Target="/ppt/tableStyles.xml" Id="Rc6ee776e23ec41e9" /><Relationship Type="http://schemas.openxmlformats.org/officeDocument/2006/relationships/slide" Target="/ppt/slides/slide1.xml" Id="Rb7f5b828eb354a8c" /><Relationship Type="http://schemas.openxmlformats.org/officeDocument/2006/relationships/slide" Target="/ppt/slides/slide2.xml" Id="R76a33c8607244f96" /><Relationship Type="http://schemas.openxmlformats.org/officeDocument/2006/relationships/slide" Target="/ppt/slides/slide3.xml" Id="R63a0fc41f2194c97" /><Relationship Type="http://schemas.openxmlformats.org/officeDocument/2006/relationships/slide" Target="/ppt/slides/slide4.xml" Id="R7f8107b0d81d4e60" /><Relationship Type="http://schemas.openxmlformats.org/officeDocument/2006/relationships/slide" Target="/ppt/slides/slide5.xml" Id="Rcb7ec48ef0814218" /><Relationship Type="http://schemas.openxmlformats.org/officeDocument/2006/relationships/slide" Target="/ppt/slides/slide6.xml" Id="R7f586740bcb54e68" /><Relationship Type="http://schemas.openxmlformats.org/officeDocument/2006/relationships/slide" Target="/ppt/slides/slide7.xml" Id="Re64a70729e3e4916" /><Relationship Type="http://schemas.openxmlformats.org/officeDocument/2006/relationships/slide" Target="/ppt/slides/slide8.xml" Id="R69c2f12e83804ee3" /><Relationship Type="http://schemas.openxmlformats.org/officeDocument/2006/relationships/slide" Target="/ppt/slides/slide9.xml" Id="R3149592e7d294ded" /><Relationship Type="http://schemas.openxmlformats.org/officeDocument/2006/relationships/slide" Target="/ppt/slides/slide10.xml" Id="R5a9eb5a3325e4cf5" /><Relationship Type="http://schemas.openxmlformats.org/officeDocument/2006/relationships/slide" Target="/ppt/slides/slide11.xml" Id="R1113060643134321" /><Relationship Type="http://schemas.openxmlformats.org/officeDocument/2006/relationships/slide" Target="/ppt/slides/slide12.xml" Id="Re16e3edda0e54c86" /><Relationship Type="http://schemas.openxmlformats.org/officeDocument/2006/relationships/slide" Target="/ppt/slides/slide13.xml" Id="R499cb93812f24574" /><Relationship Type="http://schemas.openxmlformats.org/officeDocument/2006/relationships/slide" Target="/ppt/slides/slide14.xml" Id="R0f4d490657da4e05" /><Relationship Type="http://schemas.openxmlformats.org/officeDocument/2006/relationships/slide" Target="/ppt/slides/slide15.xml" Id="R19231d7c9283459e" /><Relationship Type="http://schemas.openxmlformats.org/officeDocument/2006/relationships/slide" Target="/ppt/slides/slide16.xml" Id="R4181414ded2b42d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0ee75ac7e50a495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11b0b13a6ec4db3" /><Relationship Type="http://schemas.openxmlformats.org/officeDocument/2006/relationships/notesMaster" Target="/ppt/notesMasters/notesMaster1.xml" Id="Rdbc068c7994a4e1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81d61e2001c4055" /><Relationship Type="http://schemas.openxmlformats.org/officeDocument/2006/relationships/notesMaster" Target="/ppt/notesMasters/notesMaster1.xml" Id="R5d6a87698d94485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fb38b6019a4430f" /><Relationship Type="http://schemas.openxmlformats.org/officeDocument/2006/relationships/notesMaster" Target="/ppt/notesMasters/notesMaster1.xml" Id="Rbf433e09e26b46d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6cc14d523e84581" /><Relationship Type="http://schemas.openxmlformats.org/officeDocument/2006/relationships/notesMaster" Target="/ppt/notesMasters/notesMaster1.xml" Id="Rb701cca4f04542d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b027cfdd8f145b9" /><Relationship Type="http://schemas.openxmlformats.org/officeDocument/2006/relationships/notesMaster" Target="/ppt/notesMasters/notesMaster1.xml" Id="Rffc52d9f4d6647e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3c2215e49c74e34" /><Relationship Type="http://schemas.openxmlformats.org/officeDocument/2006/relationships/notesMaster" Target="/ppt/notesMasters/notesMaster1.xml" Id="Rfac597725ccd4b4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58f6a97a4c94195" /><Relationship Type="http://schemas.openxmlformats.org/officeDocument/2006/relationships/notesMaster" Target="/ppt/notesMasters/notesMaster1.xml" Id="R64e93b6f855441d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cab906b541947ce" /><Relationship Type="http://schemas.openxmlformats.org/officeDocument/2006/relationships/notesMaster" Target="/ppt/notesMasters/notesMaster1.xml" Id="R3894e4731e9c468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5a01f037fe6414e" /><Relationship Type="http://schemas.openxmlformats.org/officeDocument/2006/relationships/notesMaster" Target="/ppt/notesMasters/notesMaster1.xml" Id="R20b2262bccf9474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9618f5452e74659" /><Relationship Type="http://schemas.openxmlformats.org/officeDocument/2006/relationships/notesMaster" Target="/ppt/notesMasters/notesMaster1.xml" Id="R89164c0ac4974bb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2fca1a2363042d5" /><Relationship Type="http://schemas.openxmlformats.org/officeDocument/2006/relationships/notesMaster" Target="/ppt/notesMasters/notesMaster1.xml" Id="R38d89e49c528401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0d41feeb3bf4ce4" /><Relationship Type="http://schemas.openxmlformats.org/officeDocument/2006/relationships/notesMaster" Target="/ppt/notesMasters/notesMaster1.xml" Id="Rf9c020d2c15e473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3c058091a4c448f" /><Relationship Type="http://schemas.openxmlformats.org/officeDocument/2006/relationships/notesMaster" Target="/ppt/notesMasters/notesMaster1.xml" Id="R53de6dd2f7df4fd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b3604fb99d545f1" /><Relationship Type="http://schemas.openxmlformats.org/officeDocument/2006/relationships/notesMaster" Target="/ppt/notesMasters/notesMaster1.xml" Id="Rf19405def764479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cf922a2f0134cc9" /><Relationship Type="http://schemas.openxmlformats.org/officeDocument/2006/relationships/notesMaster" Target="/ppt/notesMasters/notesMaster1.xml" Id="R45e35d0dc81745ed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05a0186e9854b1e" /><Relationship Type="http://schemas.openxmlformats.org/officeDocument/2006/relationships/notesMaster" Target="/ppt/notesMasters/notesMaster1.xml" Id="R7671dcab46914dc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f411a86d2ee43ad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88e046971aaf46b1" /><Relationship Type="http://schemas.openxmlformats.org/officeDocument/2006/relationships/slideLayout" Target="/ppt/slideLayouts/slideLayout2.xml" Id="R8bc0cc1f6ceb4d3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bc0cc1f6ceb4d3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367c4b00ce14f0c" /><Relationship Type="http://schemas.openxmlformats.org/officeDocument/2006/relationships/notesSlide" Target="/ppt/notesSlides/notesSlide1.xml" Id="R160fdb26b47d418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5542ef6df514a77" /><Relationship Type="http://schemas.openxmlformats.org/officeDocument/2006/relationships/notesSlide" Target="/ppt/notesSlides/notesSlide2.xml" Id="R063f1c783d8249f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be024e855724e1d" /><Relationship Type="http://schemas.openxmlformats.org/officeDocument/2006/relationships/notesSlide" Target="/ppt/notesSlides/notesSlide3.xml" Id="R602770190e9e466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593024f255446e5" /><Relationship Type="http://schemas.openxmlformats.org/officeDocument/2006/relationships/notesSlide" Target="/ppt/notesSlides/notesSlide4.xml" Id="Ra9311230837e4af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1db10867d4447ed" /><Relationship Type="http://schemas.openxmlformats.org/officeDocument/2006/relationships/notesSlide" Target="/ppt/notesSlides/notesSlide5.xml" Id="R0ec9cb76a6ea47b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02b8f2a4b6543eb" /><Relationship Type="http://schemas.openxmlformats.org/officeDocument/2006/relationships/notesSlide" Target="/ppt/notesSlides/notesSlide6.xml" Id="R9678a38494f54c7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8cf6a4481af4d1c" /><Relationship Type="http://schemas.openxmlformats.org/officeDocument/2006/relationships/notesSlide" Target="/ppt/notesSlides/notesSlide7.xml" Id="R905dde5b84c54e1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30a9135c3a64ee0" /><Relationship Type="http://schemas.openxmlformats.org/officeDocument/2006/relationships/notesSlide" Target="/ppt/notesSlides/notesSlide8.xml" Id="Reb3d7ad93099441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a3b9a9363b74d05" /><Relationship Type="http://schemas.openxmlformats.org/officeDocument/2006/relationships/image" Target="/ppt/media/image.png" Id="Rd6158a0a97d34482" /><Relationship Type="http://schemas.openxmlformats.org/officeDocument/2006/relationships/image" Target="/ppt/media/image2.png" Id="Rd579c9c149044207" /><Relationship Type="http://schemas.openxmlformats.org/officeDocument/2006/relationships/notesSlide" Target="/ppt/notesSlides/notesSlide9.xml" Id="Rdd4eb38bf6d646b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babe71f02944bed" /><Relationship Type="http://schemas.openxmlformats.org/officeDocument/2006/relationships/notesSlide" Target="/ppt/notesSlides/notesSlide10.xml" Id="Rdcae832a3109444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e5c0ad5bc5d45a6" /><Relationship Type="http://schemas.openxmlformats.org/officeDocument/2006/relationships/notesSlide" Target="/ppt/notesSlides/notesSlide11.xml" Id="R34a29ec2ca61473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51b877120914856" /><Relationship Type="http://schemas.openxmlformats.org/officeDocument/2006/relationships/notesSlide" Target="/ppt/notesSlides/notesSlide12.xml" Id="R0b625364e08f499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01a83f43cff4394" /><Relationship Type="http://schemas.openxmlformats.org/officeDocument/2006/relationships/notesSlide" Target="/ppt/notesSlides/notesSlide13.xml" Id="Rda24e56e3d47472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e1d06c8af59409c" /><Relationship Type="http://schemas.openxmlformats.org/officeDocument/2006/relationships/notesSlide" Target="/ppt/notesSlides/notesSlide14.xml" Id="R6e8b001197324f2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e6887d9c0b34584" /><Relationship Type="http://schemas.openxmlformats.org/officeDocument/2006/relationships/image" Target="/ppt/media/image3.png" Id="Rce4c643ec0a64b70" /><Relationship Type="http://schemas.openxmlformats.org/officeDocument/2006/relationships/notesSlide" Target="/ppt/notesSlides/notesSlide15.xml" Id="R62b574b8511545ca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04ad4515e174e11" /><Relationship Type="http://schemas.openxmlformats.org/officeDocument/2006/relationships/notesSlide" Target="/ppt/notesSlides/notesSlide16.xml" Id="Rd72521c2e5dd4029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43925B2-8F2C-4A96-AA3F-15FB0A10A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20D958-5708-4144-8AC5-9C326D7C9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0B5F02-0037-4EC9-B797-796D03405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90600"/>
            <a:ext cx="8572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3450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Supervised condensate detection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8A64E9-8CEE-4511-8D10-8B810A758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66900"/>
            <a:ext cx="9334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Protein-level views plus TDP43 WT/12D condition trials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737665-279E-4ECF-ADD2-8D9DBB252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29000"/>
            <a:ext cx="21907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8C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EF04F1-E9E8-4DAD-BA72-284D0BAF1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29000"/>
            <a:ext cx="571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FD651E-B568-4DE3-AE98-C62571667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00450"/>
            <a:ext cx="1809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18,671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2EC69D-ACAB-413F-BC6A-8E2970B9C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29075"/>
            <a:ext cx="1809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tracks in final control-guided table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D8DFD6-FAB0-427D-B681-C9B55398D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429000"/>
            <a:ext cx="21907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8C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60F87C-1F19-4CF0-8818-007749E9C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429000"/>
            <a:ext cx="571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0D28A4-3DCD-46EA-B577-B9384BBE5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600450"/>
            <a:ext cx="1809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A1D98E-E73F-4B27-AA0D-114EA9009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029075"/>
            <a:ext cx="1809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proteins shown separately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387EA6-8025-491F-81EC-7F9B3A437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429000"/>
            <a:ext cx="21907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8C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B13242-D3C0-4452-916F-D8EBD9A1A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429000"/>
            <a:ext cx="571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852293-8E89-4414-9872-0285CA6E7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600450"/>
            <a:ext cx="1809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A36E19-3B24-40E7-897A-C1386BD48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029075"/>
            <a:ext cx="1809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TDP43 condition folders inventoried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32F046-53D4-4E39-B32F-2397CE582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429000"/>
            <a:ext cx="21907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8C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760598-38B8-4EBD-AE12-3C06D0F55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429000"/>
            <a:ext cx="571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771251-0334-4E44-BA44-7481D693F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600450"/>
            <a:ext cx="1809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B91C1C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B91C1C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65C3EFA-098E-45E1-BA00-1206AF3CC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029075"/>
            <a:ext cx="1809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target-specific trapping-like calls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E0D7702-CF3A-4B94-BAAD-347E68171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86375"/>
            <a:ext cx="9906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TDP43 condition slides use completed per-folder condensate_evaluation outputs; missing repeats are explicitly labeled.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D30E856-737E-4661-87C2-6BF7D4510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096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Supervised condensate detection: protein-level views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39C95A4-D022-40BF-B1ED-EEC7FB629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77000"/>
            <a:ext cx="419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81060615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D88A560-C70F-48C4-B8F7-3AC405F8B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FBD22B-704E-4BF2-AB40-D933EDAF4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F0CC81-8D4F-4DE2-BBED-17FE64C8A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429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ALL PROTEINS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60DFBA-F707-4469-A669-1B31F6DFA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287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Protein-level overview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9AEED7-09A9-403B-85C5-622D6A5D2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972800" cy="1238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D8C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D612C7-8759-4824-9D66-DAB9C8229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25C040-F8B5-4FE3-8131-AA947A872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676400"/>
            <a:ext cx="1200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free-like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20FD42-BEF8-4B85-ABBC-A9A6F55D5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69545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E7C3F7-134B-4390-A545-1D4FB26CB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1676400"/>
            <a:ext cx="1200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chromatin-bound-like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92BA48-5744-4374-A6B5-C7357616A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169545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313364-8855-4528-BD03-979A67D35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1676400"/>
            <a:ext cx="1200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MCM-bound-like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E9C004-7252-4C10-A9C3-1ADF23F45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169545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B2FE8A-8BDD-4F04-BA1D-7F3174574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1676400"/>
            <a:ext cx="1200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ambiguous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F00F1F8-D1E9-442A-ACC0-3B1FAD661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69545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58473B-AD37-4DFC-8E9B-3CEC0FC31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676400"/>
            <a:ext cx="1200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target-specific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9DE5A3-0E7F-4880-BA6A-8A380151E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90750"/>
            <a:ext cx="1381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H2B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78677EE-18E3-4C3D-AC57-C5C791BC8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2190750"/>
            <a:ext cx="241459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0207A5A-0331-497B-A616-CCF033EFB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5084" y="2190750"/>
            <a:ext cx="5949791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FD5AAE2-D88C-4E1D-BC8F-928070C3A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2190750"/>
            <a:ext cx="6191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E4D8C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B821C57-067F-429E-B9A9-10D5B363D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209800"/>
            <a:ext cx="1238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8,476 tracks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07063A7-78E7-40FD-935D-B4ED117D1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209800"/>
            <a:ext cx="1238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0.0% ambiguous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490F247-5EA3-450A-891A-51E84DE5D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43200"/>
            <a:ext cx="1381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MCM2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A8F4360-C89F-4D16-BFCA-1B935E5B3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2743200"/>
            <a:ext cx="1430179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C8FB3DA-36BD-46A1-8311-7D59196DE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3804" y="2743200"/>
            <a:ext cx="3857149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008A0D3-F8C3-4678-B94B-61D0F9E40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952" y="2743200"/>
            <a:ext cx="167164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8658B3E-AFC5-4B5D-92C7-B427421F9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8116" y="2743200"/>
            <a:ext cx="730568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1CB3383-BC5B-427B-94DB-821F8B65E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2743200"/>
            <a:ext cx="6191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E4D8C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DBA7BF4-B5D6-4395-B5FB-3D03B5D9C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762250"/>
            <a:ext cx="1238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2,661 tracks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E3DDF4E-E44B-44B4-AF38-CB6A8F817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762250"/>
            <a:ext cx="1238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11.8% ambiguous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CD84079-08FD-4494-9EE6-93EAB04CB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95650"/>
            <a:ext cx="1381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MCM2_Bound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506882D-9AF3-4349-9FA6-053895E5D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3295650"/>
            <a:ext cx="6191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BAE4B33-0952-41B8-A088-1552D432D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3295650"/>
            <a:ext cx="6191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E4D8C9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4BCEB87-D4E9-4856-B347-2F25080A7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314700"/>
            <a:ext cx="1238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178 tracks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C2577EB-A181-4990-B4F1-DF316E8A5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3314700"/>
            <a:ext cx="1238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0.0% ambiguous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29779FF-5950-41EF-81B9-EDAC499F9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48100"/>
            <a:ext cx="1381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NLS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EFFFB34-547C-4F67-88F9-DD3E614D2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3848100"/>
            <a:ext cx="6191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445FE65-691D-4FA5-A839-A336EF185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3848100"/>
            <a:ext cx="6191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E4D8C9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919182C-3536-45F0-A3EA-AB0BD88DE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867150"/>
            <a:ext cx="1238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718 tracks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5F9219F-53DD-48A5-BA95-B4D131E0B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3867150"/>
            <a:ext cx="1238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0.0% ambiguous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6C2B779-0C5B-4281-8F41-9D307785D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400550"/>
            <a:ext cx="1381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NONO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33DCACC-1560-4D70-B100-377F954EF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4400550"/>
            <a:ext cx="402431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6F7A49F-1A06-4248-90C0-A53B8F9E5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6056" y="4400550"/>
            <a:ext cx="4847749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335E110-3821-47D2-9DA6-A15645221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3805" y="4400550"/>
            <a:ext cx="210503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072DD61-778C-4CC0-9B13-958C2C39D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4308" y="4400550"/>
            <a:ext cx="736759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7EA666B-D166-4E41-A8A0-2E3359D4E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4400550"/>
            <a:ext cx="6191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E4D8C9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A11933B-9C49-4AB4-A5AA-6406CB9F7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419600"/>
            <a:ext cx="1238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3,673 tracks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F5C4221-6C4B-45AF-83ED-CA1987FA8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4419600"/>
            <a:ext cx="1238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11.9% ambiguous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D7E4E67-676C-47E9-BA07-217676622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53000"/>
            <a:ext cx="138112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TDP43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B3EBDCB-63DD-4CFE-84A7-650858C57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4953000"/>
            <a:ext cx="1578769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6091E6E-56EE-4177-BFC3-FD1F5BAB9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2394" y="4953000"/>
            <a:ext cx="3689985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6B9259F-2725-4FE9-BBDF-EF71ABB36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2379" y="4953000"/>
            <a:ext cx="142399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0BB009A-EA9F-4853-92D1-1E0327415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4778" y="4953000"/>
            <a:ext cx="780098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FA324D5-A16B-4B61-B5C8-BA0BA3C66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4953000"/>
            <a:ext cx="6191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E4D8C9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6F44CE6-459F-496F-BA8F-2E6402D8D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972050"/>
            <a:ext cx="1238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2,965 tracks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AB46340-3855-4BB9-B211-55D60F98F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4972050"/>
            <a:ext cx="1238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12.6% ambiguous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DB41CC45-1850-4275-BAC3-EF1DCCCA2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10250"/>
            <a:ext cx="981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Every target-specific segment is zero; the strongest target signal is therefore the ambiguous/manual-review pool.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0C292420-49C4-4880-8C1C-8035A4F4E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096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Supervised condensate detection: protein-level views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A892347F-4991-4B29-84C7-6EFDC95A0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77000"/>
            <a:ext cx="419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770006458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2C3DC1E-BDC0-4749-940B-2AE5C5273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32529E-A0EF-4129-8DF7-A834B9C9F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0D4C23-4C66-4694-8BB8-C6B049FB8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429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SEPARATED PROTEIN SLIDE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AD4C58-6883-46F5-9719-A38457FB6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287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H2B protein-level view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A1DCC6-639B-4974-8A81-F22A297C4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972800" cy="1238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D8C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73E985-5DF7-4602-B701-CA0082A3B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52625"/>
            <a:ext cx="21907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8C9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F6F37F-24C6-4A2D-9604-E785FB874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52625"/>
            <a:ext cx="571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06D80B-669B-446C-80E8-F129C7445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24075"/>
            <a:ext cx="1809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8,476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DF659C-A5B9-4FEF-8D8C-152BC040E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52700"/>
            <a:ext cx="1809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total tracks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D76206-A8B1-4EE1-B0C6-6226CFCD8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1952625"/>
            <a:ext cx="21907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8C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D5B016-2231-42DB-9C56-AA767C2E0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1952625"/>
            <a:ext cx="571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78BB4C-00A3-49D1-8C39-84802A098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124075"/>
            <a:ext cx="1809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3.9%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153642-0470-4BD3-B305-FF98D66FD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552700"/>
            <a:ext cx="1809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free-like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F01522-39A0-4694-BEC0-536368F99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1952625"/>
            <a:ext cx="21907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8C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C72163-65BF-47BF-9DC0-2BA44D1D2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1952625"/>
            <a:ext cx="571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C58B126-0002-4ECD-A898-5DB5C7969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24075"/>
            <a:ext cx="1809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96.1%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7C9293-D790-4A4A-B5A3-DCA369C78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552700"/>
            <a:ext cx="1809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chromatin-bound-like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AEF910E-B54F-4EB5-895B-90C18ABC6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952625"/>
            <a:ext cx="21907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8C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ADE9B67-A822-460D-BF62-A6D3CAFD3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952625"/>
            <a:ext cx="571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4A41A1B-AA6E-4B67-9416-6E562FB0D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124075"/>
            <a:ext cx="1809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0.0%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0E346C0-F065-42FA-A388-D078AF8D3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552700"/>
            <a:ext cx="1809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ambiguous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89715A2-229A-43AE-94FC-1B3591EBA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2425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8E33A45-5E37-4D18-81B9-9AD2D6148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505200"/>
            <a:ext cx="1200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free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370D3B5-EF53-4118-8724-234DCC880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52425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26F54BA-94B5-47F8-8AC5-CD48D950E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505200"/>
            <a:ext cx="1200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chromatin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2FA749D-80D5-4CD4-B516-B1F04A12C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52425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BE9C6EA-3D5B-4A46-B69F-495D06CAD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505200"/>
            <a:ext cx="1200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MCM-bound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181C8D8-203B-41E9-962C-00275273F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52425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9537B37-795C-4511-849D-CBF8A665D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505200"/>
            <a:ext cx="1200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ambiguous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2867819-2CD0-42EB-88BA-18703B2EF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52425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76FF3FF-7A48-4E28-AB4D-6B5266A2C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505200"/>
            <a:ext cx="1200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target-specific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D04DC97-AD4F-490F-982D-7640B7C40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00500"/>
            <a:ext cx="334328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9A7B7A9-D1C5-4801-B791-5153A0E7F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3478" y="4000500"/>
            <a:ext cx="8238173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EDDB8B7-6326-49CA-8DB2-22B438A21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00500"/>
            <a:ext cx="857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E4D8C9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70E2E35-13E3-4AF2-9111-A9E3BE389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72000"/>
            <a:ext cx="8477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MCM-bound-like 0.0% | target-specific 0.0% | median max dwell 22 frames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E3F58E3-E438-4142-97E7-7F2372850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625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A296E78-03D9-4426-8901-D719F24CA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286375"/>
            <a:ext cx="9582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Almost all H2B tracks are chromatin-bound-like, matching its role as the chromatin reference.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44EF00E-D25E-47E5-B107-C68A5190F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096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Supervised condensate detection: protein-level views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15C2924-462B-4ADF-B09F-329373959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77000"/>
            <a:ext cx="419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705011687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5CB9EE4-4AD7-46DD-AE7D-02B9E2D09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DC8F63-17C4-4ADC-A93E-66820F0D9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B98209-D7B1-4323-81AC-CC831FA1E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429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SEPARATED PROTEIN SLIDE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0D311D-2D1B-4A83-AC15-6D1AFF6E8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287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MCM2 protein-level view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E04265-5A65-4D2A-97E3-C5FEFDED9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972800" cy="1238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D8C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1BC8EC-BCFB-4283-AE5F-A2759C0B5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52625"/>
            <a:ext cx="21907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8C9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93A70C-1187-48AB-BB63-4ADE6E648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52625"/>
            <a:ext cx="571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E64E6E-E130-43FE-9FF5-101EF47E4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24075"/>
            <a:ext cx="1809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2,661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1E33F4-940D-48F8-B2D9-9C962DCCC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52700"/>
            <a:ext cx="1809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total tracks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80A59A-534A-471B-A5B6-ED30D668E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1952625"/>
            <a:ext cx="21907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8C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E2A2C4-7B92-447B-A48B-D456FF82C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1952625"/>
            <a:ext cx="571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85FB06-7B1B-41CB-B009-6D1CD46AD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124075"/>
            <a:ext cx="1809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23.1%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E07E9FC-B683-46E6-99E5-DAC1DAE79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552700"/>
            <a:ext cx="1809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free-like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A5AA6D-4346-48F5-B9CE-3CC5B3904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1952625"/>
            <a:ext cx="21907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8C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49A8F8-0316-43EF-A683-0BF42E583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1952625"/>
            <a:ext cx="571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AE637C0-1068-409E-802C-44AAE50A1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24075"/>
            <a:ext cx="1809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62.3%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22DA252-8792-40BE-9AD3-FC628F2FC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552700"/>
            <a:ext cx="1809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chromatin-bound-like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0A5601E-98BA-44D0-A593-7383DFF93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952625"/>
            <a:ext cx="21907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8C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B32188E-CBD5-47CA-AB1C-3DC63F57F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952625"/>
            <a:ext cx="571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FCB4E9E-B9EA-4CCE-BAF2-A59ABB46B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124075"/>
            <a:ext cx="1809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11.8%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0C06ED8-4590-4C7E-84F9-8796BF54B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552700"/>
            <a:ext cx="1809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ambiguous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A20D897-DBF1-4FE8-9EF1-1FF17FEB4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2425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42B4D66-F767-4A37-BD40-F309CC6D3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505200"/>
            <a:ext cx="1200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free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3A3CC55-8AB9-44F6-AEEE-CA40A0626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52425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490753C-41A2-4A3F-8569-546F37137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505200"/>
            <a:ext cx="1200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chromatin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D2F4143-E1AC-48D3-B32C-A932E1F9F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52425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5392922-82BB-48A1-8FDD-30977D77D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505200"/>
            <a:ext cx="1200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MCM-bound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BFBFC66-9F75-4FDD-A71A-4253CF6AA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52425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248C633-B296-48CC-BCBE-C264A4690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505200"/>
            <a:ext cx="1200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ambiguous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A948793-10C2-49F6-BA5B-4E07B43AE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52425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E77BC69-A907-477D-90E9-918B842E4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505200"/>
            <a:ext cx="1200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target-specific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9C62DBF-5388-4CF8-8E12-8F1AF8589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00500"/>
            <a:ext cx="1980248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7AD048C-90CB-4D22-94D6-9AA6BCF32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9398" y="4000500"/>
            <a:ext cx="5340668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8175EC8-5BAC-4214-8F61-6B1EDA23D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065" y="4000500"/>
            <a:ext cx="231458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F3EF5A0-6241-4CC1-B8F5-A01DCF9AC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1523" y="4000500"/>
            <a:ext cx="101155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2852808-782C-40A5-ADC3-906E93B72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00500"/>
            <a:ext cx="857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E4D8C9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BCD3FB1-9370-49E8-ACD1-F0E9FF060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72000"/>
            <a:ext cx="8477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MCM-bound-like 2.7% | target-specific 0.0% | median max dwell 24 frames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95133EC-3BB6-435B-AAD7-FF95B21C1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625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3F3F495-91F0-4CA6-8E0D-6FB80767A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286375"/>
            <a:ext cx="9582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Bulk MCM2 is mixed across free-like, chromatin-bound-like, and ambiguous bins.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460016A-531A-495F-81FE-288B06BB7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096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Supervised condensate detection: protein-level views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38A24F0-13F0-4004-81E3-821270E68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77000"/>
            <a:ext cx="419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230450332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EC70624-4D0F-4B87-A6D9-A3620947C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BB0B75-EC90-4B91-A7A8-32D194775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6C25D6-33DA-4644-9D15-3EBE69DE8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429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SEPARATED PROTEIN SLIDE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C66D16-BC2B-4140-8CDD-D2C1FEBFB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287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MCM2_Bound protein-level view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25B2DA-9C22-4C54-868F-97C1EDE4A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972800" cy="1238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D8C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187341-02A0-45E1-981E-65970DBAA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52625"/>
            <a:ext cx="21907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8C9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B0DAB2-81F4-4F78-810E-E6B08F370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52625"/>
            <a:ext cx="571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B100C0-DF53-430B-A4E7-EE07C07E7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24075"/>
            <a:ext cx="1809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178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9FC17C-3048-42B5-8CF0-BFC570BA9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52700"/>
            <a:ext cx="1809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total tracks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07D4FE-CB07-4CCE-937B-2484F9031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1952625"/>
            <a:ext cx="21907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8C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BFE3DF-1058-40E1-9A7E-27DFF8507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1952625"/>
            <a:ext cx="571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18940E-E3E4-43AC-BCF7-C7002625E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124075"/>
            <a:ext cx="1809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0.0%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F59EC4-E7ED-4806-94B6-EBB49192B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552700"/>
            <a:ext cx="1809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free-like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F1A025-59EF-4F32-AD9B-C1FE9A642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1952625"/>
            <a:ext cx="21907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8C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E503FB-EB3F-4990-A916-16C6FCEDE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1952625"/>
            <a:ext cx="571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F7E732-F4BF-41CF-9D14-97DDFFA1A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24075"/>
            <a:ext cx="1809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0.0%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A00152E-E480-40F6-A3C9-AA0ACF050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552700"/>
            <a:ext cx="1809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chromatin-bound-like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B101F87-5711-4CB8-8096-47ECBA8B2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952625"/>
            <a:ext cx="21907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8C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DFCCA47-F6AA-416A-86D4-49A4EAF78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952625"/>
            <a:ext cx="571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2D77618-DD55-4FAF-AB47-2E0A02581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124075"/>
            <a:ext cx="1809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0.0%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AB91240-3B97-470A-BCB6-B4D468A22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552700"/>
            <a:ext cx="1809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ambiguous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A09E360-5826-41F7-898C-057D79501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2425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5A0DED9-380F-49D6-BC98-0D7760842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505200"/>
            <a:ext cx="1200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free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766CB20-DECA-4469-BC4F-6C67BDE03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52425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706F070-7821-4E1D-BEAB-73F00F78F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505200"/>
            <a:ext cx="1200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chromatin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585C77F-A7D7-4F79-BEBF-45706FD1A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52425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8211A7A-581C-41E8-817F-D74BD2ADD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505200"/>
            <a:ext cx="1200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MCM-bound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EA2FB13-9335-45E9-853B-EF984A7C8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52425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9CB3154-627E-454E-B25C-56B1AF0D7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505200"/>
            <a:ext cx="1200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ambiguous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701B344-3766-4442-A12F-F56AA801B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52425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781C55E-9DAA-4391-B735-914CE4F7B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505200"/>
            <a:ext cx="1200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target-specific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E195F9A-9A28-4759-BBA5-FED2AE484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00500"/>
            <a:ext cx="857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4D9C217-CDEF-4C3E-9C8C-7F67953B5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00500"/>
            <a:ext cx="857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E4D8C9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E3425FF-373A-4444-836C-D42BC2D08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72000"/>
            <a:ext cx="8477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MCM-bound-like 100.0% | target-specific 0.0% | median max dwell not available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49E2128-DC07-4388-BE4C-BA36E4D52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625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BCBFBF2-A343-4083-8479-6D7F8FC8A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286375"/>
            <a:ext cx="9582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High-confidence MCM2_Bound acts as the replication/chromatin-associated bound reference.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65A4EEE-50DD-4CC8-8CCF-51F94D1EA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096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Supervised condensate detection: protein-level views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960F413-A2D4-49AE-8228-E86B8322A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77000"/>
            <a:ext cx="419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13280480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9E4D27F-C113-4114-935E-5B942348F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3967C7-CE08-4EA7-BB5C-C30DD7D66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3DD5E5-29BB-40C2-8B08-9BEED86A4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429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SEPARATED PROTEIN SLIDE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5F0A59-A90F-426D-9E3E-267E2E755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287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NLS protein-level view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7813B3-28A6-4D04-863E-17A920177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972800" cy="1238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D8C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E2D57C-78E3-49C4-AACE-846D6E496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52625"/>
            <a:ext cx="21907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8C9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F7F805-DEA9-48D9-9D33-C0C0234F6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52625"/>
            <a:ext cx="571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15130F-E16F-46FF-AC91-5CAA5EDFE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24075"/>
            <a:ext cx="1809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718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355E82-6E9A-4969-A3D2-FE9A95536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52700"/>
            <a:ext cx="1809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total tracks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5719CE-AEAD-44C8-ABF7-874E1FB5B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1952625"/>
            <a:ext cx="21907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8C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98C1D9-7584-4A64-B0EC-5859E1008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1952625"/>
            <a:ext cx="571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DA50B9-C33D-46C7-BBA7-9E8D12CFE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124075"/>
            <a:ext cx="1809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100.0%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F3909B-AD81-4D0F-AFC7-5A90A4E30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552700"/>
            <a:ext cx="1809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free-like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DE9F24-D7A8-40BC-B876-393541093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1952625"/>
            <a:ext cx="21907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8C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5EA0CAD-B394-45E0-A29E-6C30C97B3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1952625"/>
            <a:ext cx="571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B09E3EC-F366-4D82-A89B-4F0355B66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24075"/>
            <a:ext cx="1809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0.0%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28E232-9DA5-4F08-BA5C-7B14D8366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552700"/>
            <a:ext cx="1809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chromatin-bound-like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2645BDA-F135-4BA7-98E4-D2654C6A1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952625"/>
            <a:ext cx="21907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8C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E9FC47B-FD89-4348-80EE-8F0285F35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952625"/>
            <a:ext cx="571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EBA4511-8FA1-44A9-B873-D53D8CA4D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124075"/>
            <a:ext cx="1809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0.0%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9537ACA-4A42-40CE-BC88-385444785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552700"/>
            <a:ext cx="1809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ambiguous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712C6B7-EA00-4473-9C8C-1CD7C0B8C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2425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40C2679-E1AF-4FD2-BAA8-DC9464188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505200"/>
            <a:ext cx="1200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free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C5C9188-C6C2-4E3F-A22F-E559DB01A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52425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1F28865-48DC-42BE-B3F3-C78563CB5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505200"/>
            <a:ext cx="1200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chromatin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8657671-C0FD-40DB-A9C2-4AF5158FA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52425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64656D1-FF29-4DC4-A640-E4C941B6D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505200"/>
            <a:ext cx="1200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MCM-bound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7830C02-3F4F-4F82-A3B7-AEA250020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52425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9E3FD6C-19CD-4598-B907-C0ED60564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505200"/>
            <a:ext cx="1200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ambiguous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4252F35-79BF-458F-89A8-DDFD0B9D6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52425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DB3E264-0BBA-42B8-9EB9-6A39A48C6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505200"/>
            <a:ext cx="1200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target-specific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81A8F2E-54C0-45E6-9C7C-125A01854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00500"/>
            <a:ext cx="857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AD6B8A0-A085-4131-8AA1-B848433EE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00500"/>
            <a:ext cx="857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E4D8C9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B767206-94A0-4E88-B25C-79976CA97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72000"/>
            <a:ext cx="8477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MCM-bound-like 0.0% | target-specific 0.0% | median max dwell 19 frames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EE41F0E-4F0E-4C83-B459-EE669BB00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625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2B4C22C-6C68-4005-A2CC-60D021225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286375"/>
            <a:ext cx="9582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NLS anchors the free-like nuclear-motion reference.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64BF5DC-8D5B-486A-AE36-A3AD8AACF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096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Supervised condensate detection: protein-level views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9337A71-B7BB-48EC-BEC1-B97C0EF68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77000"/>
            <a:ext cx="419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987602287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1B77D97-E009-402F-BD89-E95C259E7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BA96BC-BFB8-4477-B832-A9BF970E4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D9291D-1CAF-447C-BC78-1C1B3979D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429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SEPARATED PROTEIN SLIDE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8F346F-FA8F-4B8C-9A6B-38B980314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287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NONO protein-level view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9872AB-575D-46DF-9938-F60D5B98B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972800" cy="1238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D8C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655BA3-9C83-43BA-AF2D-4EFC02D1C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52625"/>
            <a:ext cx="21907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8C9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8A2682-85CC-4371-8E29-2C16C3734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52625"/>
            <a:ext cx="571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EE3439-A702-458D-91ED-268E68CEF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24075"/>
            <a:ext cx="1809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3,673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489694-01CB-433A-9D27-0B7A00CA7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52700"/>
            <a:ext cx="1809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total tracks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BEA2A7-0AB4-4188-A322-724E97CC8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1952625"/>
            <a:ext cx="21907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8C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C2AB83-31DB-4300-84BB-111B9161D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1952625"/>
            <a:ext cx="571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96EC06-DA03-4988-AAA1-585EE8CB2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124075"/>
            <a:ext cx="1809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6.5%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87656D-60BE-480F-9313-33C28C763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552700"/>
            <a:ext cx="1809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free-like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D5AADA-8EA6-4AA6-8E0B-CDE436790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1952625"/>
            <a:ext cx="21907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8C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BC15401-1671-42D0-B82D-3FB59E9F7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1952625"/>
            <a:ext cx="571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147E9BE-5125-4C86-BCAF-8F655CEC6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24075"/>
            <a:ext cx="1809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78.3%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AC93E3-B6F5-4CD0-9DB1-DB5F80ECA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552700"/>
            <a:ext cx="1809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chromatin-bound-like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052985-1B43-4966-8C75-10DFE5466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952625"/>
            <a:ext cx="21907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8C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3484F0-4555-4CAE-90BB-53CD80BA3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952625"/>
            <a:ext cx="571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C36F2BF-888A-45D2-A03B-3655D1E5C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124075"/>
            <a:ext cx="1809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11.9%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BA17B56-4877-48D3-9436-1D2BEB5F1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552700"/>
            <a:ext cx="1809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ambiguous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920D476-1E4F-4E77-B9BD-C0A67712F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2425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759C35A-68EE-45E7-9303-81C1B4100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505200"/>
            <a:ext cx="1200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free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61DE449-D23E-47DA-8087-0BC58F742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52425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02FF5CC-C3E8-42AE-98E8-8313089D1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505200"/>
            <a:ext cx="1200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chromatin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045CE96-EE00-4DDF-9A7B-833AD67C0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52425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1A25688-FD10-4E99-A1F7-C9B5CB426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505200"/>
            <a:ext cx="1200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MCM-bound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A83F04C-7951-4CAD-99CC-4B92C77F6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52425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F3A4D94-190C-4629-8C9D-31D5DE2CB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505200"/>
            <a:ext cx="1200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ambiguous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F9DAE0E-A574-42ED-A3CB-37760B783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52425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3CAA00C-FF07-4575-9948-2B67CF41A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505200"/>
            <a:ext cx="1200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target-specific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970D7EF-3F9B-488A-A847-0FCED8EFC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00500"/>
            <a:ext cx="557213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DA2D9D7-08E9-4D59-B8DE-D7334FB53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6363" y="4000500"/>
            <a:ext cx="6712268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30E67C3-B995-492C-9B53-10F23EBD5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8630" y="4000500"/>
            <a:ext cx="29146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950F9DE-F2AB-47E9-9D58-D4FDDA9BC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0095" y="4000500"/>
            <a:ext cx="1020128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F817E14-6743-41D8-9DA6-51DAD4C83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00500"/>
            <a:ext cx="857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E4D8C9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CA272DB-35BB-42EF-A977-E0089549E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72000"/>
            <a:ext cx="8477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MCM-bound-like 3.4% | target-specific 0.0% | median max dwell 20 frames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18A8A8F-A24F-48C2-924F-FDA5BE884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625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40F98A4-34F9-4090-99D6-79BCE737F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286375"/>
            <a:ext cx="9582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NONO targets mainly fall into chromatin-bound-like or ambiguous categories.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5D49602-0A61-40D3-80DE-B1E68AA11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096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Supervised condensate detection: protein-level views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58E4BB8-A82D-418A-AE2A-E5F8028F1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77000"/>
            <a:ext cx="419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90000204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6CD1FB9-78A0-4C34-801A-A18B72234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1B7B1D-CDDC-42F1-816D-36CA21BED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AE33D4-8BB4-45E8-AD73-D5F58638F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429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SEPARATED PROTEIN SLIDE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4B0578-8FFF-4C56-B734-199726D66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287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TDP43 protein-level view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974B5B-D571-494E-BE46-800395CEA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972800" cy="1238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D8C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975097-9231-4C4F-B5E9-59BBEE0A3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52625"/>
            <a:ext cx="21907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8C9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D1A370-DA81-4857-8F1A-57A0B286D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52625"/>
            <a:ext cx="571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FD4208-0C7B-4B4A-B45A-ABDA312E4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24075"/>
            <a:ext cx="1809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2,965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9BAF81-51DF-4CDC-9CD2-B39A57EC5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52700"/>
            <a:ext cx="1809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total tracks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BC5410-31BF-435E-9D65-D53D0069E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1952625"/>
            <a:ext cx="21907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8C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DBD5EA-55B3-40E5-8183-18BEEA8D4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1952625"/>
            <a:ext cx="571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E3AFC0-1947-48C8-97EF-3E6C44E3F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124075"/>
            <a:ext cx="1809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2563EB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2563EB"/>
                </a:solidFill>
                <a:latin typeface="Aptos"/>
                <a:ea typeface="Aptos"/>
                <a:cs typeface="Aptos"/>
              </a:rPr>
              <a:t>25.5%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F436E89-2D17-4EF8-BE36-C16ACB263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552700"/>
            <a:ext cx="1809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free-like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00EC6A-3937-40A3-BE70-31ED02803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1952625"/>
            <a:ext cx="21907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8C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F7E476-705E-4D54-99B8-12B1B647B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1952625"/>
            <a:ext cx="571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A4B067-6983-4A77-8812-FA51A91DE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24075"/>
            <a:ext cx="1809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59.6%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C12114-2405-4180-AA48-E278694E0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552700"/>
            <a:ext cx="1809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chromatin-bound-like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BFCBC4D-5921-486F-B077-BFBE4C4AC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952625"/>
            <a:ext cx="21907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8C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ABB9AE7-B048-42AA-8295-1A913C325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952625"/>
            <a:ext cx="571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511D881-CAE7-4D3A-92C3-EED0170EE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124075"/>
            <a:ext cx="1809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12.6%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4344D19-0D96-4139-928C-3E34139E5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552700"/>
            <a:ext cx="1809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ambiguous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1DBBB10-783C-48E7-AC85-6C4324EA8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2425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FA502CF-1551-4364-BD25-47B832D30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505200"/>
            <a:ext cx="1200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free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D4E6386-3436-4D93-992C-D2BEC569D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52425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07DB64D-6194-49E4-A5DA-107E6D574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505200"/>
            <a:ext cx="1200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chromatin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8D08026-15AC-4FAD-8E2A-7AA3AC6A3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52425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E7D8915-7314-42AB-8ACE-853EA5B84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505200"/>
            <a:ext cx="1200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MCM-bound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D93211E-A426-42BF-85EE-4D801C76B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52425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7B5A787-0EE0-4EEC-899E-440577A2D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505200"/>
            <a:ext cx="1200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ambiguous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D1A745D-ABED-4568-B48B-55A73E4C5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52425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D111F34-B96B-4DB6-BA6A-45ED166E4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505200"/>
            <a:ext cx="1200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target-specific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A472583-5BEB-4BAC-A717-56D983BA0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00500"/>
            <a:ext cx="2185988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1976126-1A73-4741-B68A-05EB3AE00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5138" y="4000500"/>
            <a:ext cx="510921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912A969-1559-47C9-B5B0-1E305CAF9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4348" y="4000500"/>
            <a:ext cx="197168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C3AE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445E376-7B04-4C9B-BAD4-8B71BBC95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1515" y="4000500"/>
            <a:ext cx="108013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6132041-2BD9-4800-8D6D-4BDFDD2B3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00500"/>
            <a:ext cx="8572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E4D8C9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D1F9F4E-DBD1-42CB-BD8C-2578423D9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72000"/>
            <a:ext cx="8477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MCM-bound-like 2.3% | target-specific 0.0% | median max dwell 21 frames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1D7FA2E-A7E1-4E4E-9497-8C1C7E094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625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DBFFFB2-9225-4232-9C6F-CC494D4CD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286375"/>
            <a:ext cx="9582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TDP43 has more free-like calls than NONO, but still no target-specific trapping-like calls.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3F0CA74-72BF-48F2-AEA9-C2F67F920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096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Supervised condensate detection: protein-level views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B0BB61C-F4DA-45BB-87D2-72D3F3241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77000"/>
            <a:ext cx="419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139967231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51778F6-606C-4C89-8A5A-4F4C7C9E7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19B9C8-237C-441A-8D21-1CB06672D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46AFA6-5B5A-47C5-8BE2-EC07DFA3C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429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H2B_BOUND VS MCM2_BOUND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48F5D3-1ACD-4F3F-9E92-696A997AA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287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Bound-control diagnostic context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A5BE2D-9B80-412C-88C7-C1FE7C357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972800" cy="1238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D8C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158a0a97d34482"/>
          <a:stretch xmlns:a="http://schemas.openxmlformats.org/drawingml/2006/main"/>
        </p:blipFill>
        <p:spPr>
          <a:xfrm xmlns:a="http://schemas.openxmlformats.org/drawingml/2006/main">
            <a:off x="876300" y="1809750"/>
            <a:ext cx="5200650" cy="3714750"/>
          </a:xfrm>
          <a:prstGeom xmlns:a="http://schemas.openxmlformats.org/drawingml/2006/main" prst="rect">
            <a:avLst/>
          </a:prstGeom>
        </p:spPr>
      </p:pic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79c9c149044207"/>
          <a:stretch xmlns:a="http://schemas.openxmlformats.org/drawingml/2006/main"/>
        </p:blipFill>
        <p:spPr>
          <a:xfrm xmlns:a="http://schemas.openxmlformats.org/drawingml/2006/main">
            <a:off x="6572250" y="2419945"/>
            <a:ext cx="4095750" cy="2303859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0195B6-C95C-4AF2-835A-E3134C2D6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8864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A47E58-6AC6-4EB4-8DAF-2280112DF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810250"/>
            <a:ext cx="9677400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H2B_Bound and MCM2_Bound are partly separable, not identical.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672E06-0872-46FC-A94E-BF2D83FE6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61626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BF0B5B-E37D-45D9-89A8-DE47F0A94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6086475"/>
            <a:ext cx="9677400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TDP43 and NONO sit near the boundary, with a small MCM2_Bound-like tilt.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F1579A-EADC-4E3E-A3B0-D3E1A2B95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64389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697FD2-A74E-4329-AC98-112AA6504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6362700"/>
            <a:ext cx="9677400" cy="276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This supports cautious control-guided wording rather than definitive localization claims.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DCD21E7-B666-4AC3-955D-09498A660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096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Supervised condensate detection: protein-level views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509E44E-EF0D-4094-BE5F-51B599114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77000"/>
            <a:ext cx="419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962229661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318991E-648F-4B1C-AEE8-A55743B51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82FA02-ADB5-4D03-9229-AB3CA703F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E1F0FB-B2DE-4F88-8BF2-F9D350D97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429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COMPLETED CONDITION OUTPUTS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1146FB-83D9-4B24-BEED-A7B2D1C13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287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TDP43 WT individual trials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7037A3-D709-480C-ACD6-313C54FE5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972800" cy="1238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D8C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D9494E-557D-486E-A972-9A57C501B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7640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122B15-CC7A-4EA9-8682-18391BBA4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657350"/>
            <a:ext cx="1200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mixed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12532C-FA98-4C41-995A-67F4A0FDE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67640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9B26F7-3552-484F-8E14-3FAD85E50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1657350"/>
            <a:ext cx="1200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old trapping-like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495217-B531-469C-BF12-4EEBF5DCB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167640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000BE7-1B67-4963-B40E-9B94A2439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1657350"/>
            <a:ext cx="1200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slow diffusive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5C45BE-E0A0-44FE-9C5B-EF7CD6070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167640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8A2B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7C3B58-1F74-4655-B2B7-D8D3411D7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1657350"/>
            <a:ext cx="1200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missing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20FAC6-3266-4B4F-843E-8220B37DF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90750"/>
            <a:ext cx="1428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WT-0416-CT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B70A2D3-B17E-486B-8A89-ED467BEF2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2190750"/>
            <a:ext cx="430511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F0401C-8FF9-4271-AE54-700C4F92B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3985" y="2190750"/>
            <a:ext cx="1600391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D6FD81C-D399-4661-BB33-EA775E995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2190750"/>
            <a:ext cx="5905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E4D8C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0D9402-C405-4AE4-A93A-616C11910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200275"/>
            <a:ext cx="257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27.1% old trapping-like; n=667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4995BB1-40B4-4C9A-A3F8-6AC2E30E6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24150"/>
            <a:ext cx="1428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WT-0423-CT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CEC5838-9296-4CFE-8A95-BC7A67E66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2724150"/>
            <a:ext cx="4801172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54E6903-15AF-4561-A02D-5AB0197BE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0046" y="2724150"/>
            <a:ext cx="1104329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60BF93B-5AD4-4C2C-BFC8-427E717C2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2724150"/>
            <a:ext cx="5905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E4D8C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2CC0E73-0555-4109-8920-E0A35314A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733675"/>
            <a:ext cx="257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18.7% old trapping-like; n=246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E8251A2-FFE4-44E0-9E80-BBFFBCD35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57550"/>
            <a:ext cx="1428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WT-0515-CT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153A4F5-FB9A-48DF-8039-A4AE38E59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3257550"/>
            <a:ext cx="5905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9525">
            <a:solidFill>
              <a:srgbClr val="E4D8C9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42EAC30-8057-4F90-ABBB-47E3A1C2F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3333750"/>
            <a:ext cx="5715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missing classification output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CCD9803-8CD0-4E89-A9B9-08E945AFD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267075"/>
            <a:ext cx="257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no completed summary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F2EEC57-5253-4B30-91E7-EEE535065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90950"/>
            <a:ext cx="1428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WT-0416-ARS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A874F47-BD9A-4BDD-9BDC-A2C7672FB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3790950"/>
            <a:ext cx="437007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09138AC-FD4C-44AA-839E-98377125A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8945" y="3790950"/>
            <a:ext cx="153543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CB149E1-F1D4-4105-8107-043C230DF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3790950"/>
            <a:ext cx="5905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E4D8C9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A921D1F-70A4-4C8E-9B53-66E79C373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00475"/>
            <a:ext cx="257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26.0% old trapping-like; n=1492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EABD006-BF92-4A98-9D3D-9DBF3C1C5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24350"/>
            <a:ext cx="1428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WT-0423-ARS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B5BC2CF-029A-4DF5-A48F-5524C64F5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4324350"/>
            <a:ext cx="4263771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00715DA-4F70-43E6-99CE-F674DF76E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2646" y="4324350"/>
            <a:ext cx="1635824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DB125A0-F039-4FE5-9FEB-11D9ADE1B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8470" y="4324350"/>
            <a:ext cx="5906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1B9AC77-4E90-4824-BB1A-6CC7B475B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4324350"/>
            <a:ext cx="5905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E4D8C9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15413FE-9613-4BF0-8E79-B536F4313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333875"/>
            <a:ext cx="257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27.7% old trapping-like; n=830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A570541-D53A-4EEC-AE6E-F67121BF6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857750"/>
            <a:ext cx="1428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WT-0515-ARS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A299BC1-EE60-4D18-9B81-26AFD8DDB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4857750"/>
            <a:ext cx="5905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9525">
            <a:solidFill>
              <a:srgbClr val="E4D8C9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5058CA3-A7CB-4E52-8E03-F99517EBA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4933950"/>
            <a:ext cx="5715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missing classification output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8448183-E909-4437-9BB5-8E13F58C6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867275"/>
            <a:ext cx="257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no completed summary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F60299F-6C14-496A-970A-0C58B0CE8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391150"/>
            <a:ext cx="1428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WT-1211-ACTD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CF8F5F5-B79B-4E80-8CCF-3986CB5B2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5391150"/>
            <a:ext cx="3915347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73A3568-1971-4BB4-B30D-A2F6034F2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4221" y="5391150"/>
            <a:ext cx="1990154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E8F311C-7CCF-44DE-B5BD-1D7106BCA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5391150"/>
            <a:ext cx="5905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E4D8C9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DE4987F-BAEB-4E39-B1DC-263A2419F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400675"/>
            <a:ext cx="257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33.7% old trapping-like; n=199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A9DCA18-2FA5-4210-A920-77CB9E670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000750"/>
            <a:ext cx="990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These are per-folder condensate_evaluation summaries, not new target-specific supervised calls.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223F727-BEA6-4C84-8D64-4FBB46C66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096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Supervised condensate detection: protein-level views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8FF7426-56EB-415A-85F5-0F36983AC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77000"/>
            <a:ext cx="419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42235094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81E5156-22ED-4735-BD10-6504247D6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919AAC-054C-4D56-8134-304AF0979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9DECF1-C501-4994-BBAE-2D2D63E46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429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COMPLETED CONDITION OUTPUTS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C11C67-CAAF-48A3-8BF4-B024A6F6A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287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TDP43 12D individual trials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3EE604-9C7D-477E-BFEA-825C0C867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972800" cy="1238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D8C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83DBEF-36DC-4DFF-8601-080B89CAF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7640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FA18BD-B3BA-49E3-A9FC-9F713259D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657350"/>
            <a:ext cx="1200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mixed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F22FEB-71C6-4280-8AD7-694D259BD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67640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0542F3-55D7-4309-A393-74D17D6AF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1657350"/>
            <a:ext cx="1200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old trapping-like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3F22C6-28C6-4BC7-8DA1-2478A2A99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167640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0E20C3-6B7E-41F5-B6B3-BB25CF36D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1657350"/>
            <a:ext cx="1200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slow diffusive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525F92-9E8E-40AE-AFE4-99C2969CA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167640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8A2B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7AEFDB-3E64-46DD-9171-AB56752ED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1657350"/>
            <a:ext cx="1200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missing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814A960-D5BD-4B80-AD05-E36BEF60C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90750"/>
            <a:ext cx="1428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12D-0416-CT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26755E-FFBF-42B0-A953-7D9C32B99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2190750"/>
            <a:ext cx="4564952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62E63A-B4A9-4B9E-8432-297BBD83B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3827" y="2190750"/>
            <a:ext cx="1340549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7F08EE-E5B3-4DA5-AE43-AF7D4036E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2190750"/>
            <a:ext cx="5905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E4D8C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72FE59F-8087-48AF-94A5-2BF339F78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200275"/>
            <a:ext cx="257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22.7% old trapping-like; n=225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E4860EC-F071-4AA6-A42D-D047074FE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24150"/>
            <a:ext cx="1428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12D-0423-CT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722F8B7-7967-4038-A919-3AB105BAA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2724150"/>
            <a:ext cx="4688967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C3A4A99-5BFD-40B7-9476-B1291547B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7842" y="2724150"/>
            <a:ext cx="1216533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378539D-BB9E-4905-BB35-FE0CEB67B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2724150"/>
            <a:ext cx="5905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E4D8C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490AEBB-EDDA-483D-AB4A-706E3F792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733675"/>
            <a:ext cx="257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20.6% old trapping-like; n=136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A57C0A3-1BB7-4B30-846A-56FFF3189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57550"/>
            <a:ext cx="1428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12D-0502-CT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17715A4-9D69-442D-B634-D0588F5D8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3257550"/>
            <a:ext cx="5905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9525">
            <a:solidFill>
              <a:srgbClr val="E4D8C9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200E185-1834-4B5A-8BAA-3E1EC2D5A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3333750"/>
            <a:ext cx="5715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missing classification output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37310B3-61FD-427F-88C6-4D13B9CDC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267075"/>
            <a:ext cx="257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no completed summary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7A4DAB1-2D94-475C-B208-5DDCC0C6E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90950"/>
            <a:ext cx="1428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12D-0416-ARS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04BD584-684D-4DA2-B91D-C1C576941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3790950"/>
            <a:ext cx="4629912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27F1E86-AB6E-4E2E-B014-05589C8F6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787" y="3790950"/>
            <a:ext cx="1275588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FA047EA-9AFE-4281-97E4-F3F24E15A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3790950"/>
            <a:ext cx="5905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E4D8C9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5D091EC-7618-4085-B9E7-92FA5E7A6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00475"/>
            <a:ext cx="257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21.6% old trapping-like; n=1038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0EF809F-F644-45F5-B79A-54C99D888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24350"/>
            <a:ext cx="1428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12D-0423-ARS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575C4B1-6FD4-416A-8E74-6108BE935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4324350"/>
            <a:ext cx="4316921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DCDA79A-635B-4941-9166-F22C1B920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5796" y="4324350"/>
            <a:ext cx="158858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1319DEE-BEFB-44FF-893A-B1D37571C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4324350"/>
            <a:ext cx="5905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E4D8C9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B21F19A-5196-4129-92CD-8ADCE14D7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333875"/>
            <a:ext cx="257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26.9% old trapping-like; n=260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DB1C544-4FA0-42AD-821E-794AE4E99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857750"/>
            <a:ext cx="1428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12D-0515-ARS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5FF039A-9733-4D23-A13A-46E64720E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4857750"/>
            <a:ext cx="4387787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5DBB484-A659-4E76-812D-36A9FAA0F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6662" y="4857750"/>
            <a:ext cx="1517714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844C5B3-9824-45F7-8ED9-48034774C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4857750"/>
            <a:ext cx="5905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E4D8C9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BB36297-85A3-49A4-BEE7-9121B25C5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867275"/>
            <a:ext cx="257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25.7% old trapping-like; n=377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E8461BE-8468-4CA9-B6DA-08B6A6D36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000750"/>
            <a:ext cx="9906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12D ARS currently has all three completed biological repeats; 12D CT is missing one completed summary.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8AB7FD5-A132-4ACA-91B5-0A0214155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096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Supervised condensate detection: protein-level views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04CC899-6473-4B5E-AE94-4BAB359F8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77000"/>
            <a:ext cx="419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970174256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3DB2FED-A70D-4FFA-A889-A46AEB58F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89AFDE-19E1-4E3F-A716-8D182F803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F22FDD-8E47-462E-BDC8-62033C783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429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CONTROL CONDITION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DD6737-2741-4613-A3F9-512304CCB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287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TDP43 CT: individual trials and averages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444437-3012-46C6-A745-F288569E5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972800" cy="1238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D8C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0E2CAF-F593-480A-B0A2-BD3EE63C5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7640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B9D6CB-D0A3-4F59-A41E-F07BBA956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657350"/>
            <a:ext cx="1200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mixed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C35690-2DBE-4E37-B37B-61420749E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67640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C0E2F0-7350-429B-8C8F-1EE349A33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1657350"/>
            <a:ext cx="1200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old trapping-like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FFD5CB-264E-4286-9A10-C89E8951A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167640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666648-3EBC-458E-BDD5-6BDD7ED82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1657350"/>
            <a:ext cx="1200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slow diffusive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09CC0B-3626-4BD3-B767-AE891D90B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167640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8A2B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A53A7C-546B-4A40-9CA1-9DE8B6A91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1657350"/>
            <a:ext cx="1200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missing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7A6854-DBD3-4EF2-8A8A-C90488CFD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43125"/>
            <a:ext cx="1428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WT-0416-CT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A8E6EBC-A76F-4706-88FD-5F8B56879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2143125"/>
            <a:ext cx="3610737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927D33A-2DF0-4769-846A-3183978C2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9612" y="2143125"/>
            <a:ext cx="1342263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A2D06C-7EB5-452A-B650-27D06C0FF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2143125"/>
            <a:ext cx="495300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E4D8C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D510BCB-304B-45DF-B392-4BC170608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143125"/>
            <a:ext cx="1809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27.1% old trapping-like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1BF220-55A1-4A9A-BC7F-77471905E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81275"/>
            <a:ext cx="1428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WT-0423-CT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3CFEDEC-0AF5-4A90-8705-4EBD2B1C0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2581275"/>
            <a:ext cx="4026789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99E17B3-A061-47A9-A43B-6CCC8B481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5664" y="2581275"/>
            <a:ext cx="926211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AA32E49-9132-458B-8E34-4A6690D10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2581275"/>
            <a:ext cx="495300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E4D8C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CFBAD18-04EE-41F9-9A7F-B29A9D2CA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581275"/>
            <a:ext cx="1809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18.7% old trapping-like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FED8846-D829-4B46-A0F7-3FCB604F8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19425"/>
            <a:ext cx="1428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WT-0515-CT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25084A1-47A1-40B0-9559-8FF974E4F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3019425"/>
            <a:ext cx="495300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9525">
            <a:solidFill>
              <a:srgbClr val="E4D8C9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C3B203A-5099-4D4B-931B-6FE1B8E11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3095625"/>
            <a:ext cx="4762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missing classification output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861AABC-6254-4543-828F-E976CF395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019425"/>
            <a:ext cx="1809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missing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8C6F849-CC76-46B5-8E51-94146C816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57575"/>
            <a:ext cx="1428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12D-0416-CT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12C57B3-FA4F-42FC-9CD2-D66CC83C1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3457575"/>
            <a:ext cx="3828669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E5BC31F-837A-497D-ABF0-D9E353C24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544" y="3457575"/>
            <a:ext cx="1124331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5487FAB-22CD-42D5-8BA1-084C84B30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3457575"/>
            <a:ext cx="495300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E4D8C9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9EF5F84-5885-42AA-BB63-5B3955901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457575"/>
            <a:ext cx="1809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22.7% old trapping-like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038867D-1305-4DB5-8574-831AB3D5C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95725"/>
            <a:ext cx="1428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12D-0423-CT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CF28CCD-FB17-4DB6-B6F7-20C28E9C2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3895725"/>
            <a:ext cx="3932682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2690BEF-C71A-4FAF-BF8F-2EE1548A7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1557" y="3895725"/>
            <a:ext cx="1020318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505D579-661A-48F4-974B-3E0530D76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3895725"/>
            <a:ext cx="495300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E4D8C9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BAF4D57-3E01-4ED7-B580-5683D7F5E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895725"/>
            <a:ext cx="1809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20.6% old trapping-like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74BF54A-C6B9-4F9B-921E-0C818205C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33875"/>
            <a:ext cx="1428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12D-0502-CT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B253C8B-8832-4C3D-A51F-8C15E7537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4333875"/>
            <a:ext cx="495300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9525">
            <a:solidFill>
              <a:srgbClr val="E4D8C9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BC197B8-FF01-4997-BB6A-E2D5144CD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4410075"/>
            <a:ext cx="4762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missing classification output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341F6F4-2AC2-48B8-981F-996510217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333875"/>
            <a:ext cx="1809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missing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D7A7178-8F94-4E44-9484-0F4B68B71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857750"/>
            <a:ext cx="1619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WT CT average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3C17CDA-24F3-4855-80EA-6D0FC2F56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857750"/>
            <a:ext cx="3818763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96935CE-8A46-455B-9A69-41949C3C0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5763" y="4857750"/>
            <a:ext cx="1134237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BD5E869-67BA-4F05-8F52-D51C0E644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857750"/>
            <a:ext cx="4953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E4D8C9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C2245BF-2D55-4271-A291-F2F5C0581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876800"/>
            <a:ext cx="2952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22.9% old trapping-like; 2/3 completed repeats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51BDBA7-FCD6-4C67-8895-72B2BFD8A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410200"/>
            <a:ext cx="1619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12D CT average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A7607D2-BB12-423E-AAF6-67A4D287D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410200"/>
            <a:ext cx="3880676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BFA57DC-4D06-48E1-9F40-EA8946165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7676" y="5410200"/>
            <a:ext cx="10723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5695FB3-049B-4D0A-981F-4C8AC445E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410200"/>
            <a:ext cx="4953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E4D8C9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DF53098-ECAE-4D57-AC1D-E7BF30799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429250"/>
            <a:ext cx="2952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21.6% old trapping-like; 2/3 completed repeats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0D23E3F-787A-418D-BEB0-BC36FDF0A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096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Supervised condensate detection: protein-level views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C75A133-C10B-42CB-83E3-2BCFF397D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77000"/>
            <a:ext cx="419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665133579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576B0D7-93AB-46D6-BDD5-D96D478DD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760B7B-E019-49F9-9F01-8F9B4F417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33F5A5-A921-44AC-AE3D-F771202AF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429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ARSENITE CONDITION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1C45BD-0770-4E67-B081-920DC58B6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287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TDP43 ARS: individual trials and averages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DFD5EC-E028-4E11-93F4-DACDCF249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972800" cy="1238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D8C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B2D99D-4322-4A7A-8C17-470B5D34A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7640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738C2F-21AC-4F7B-9776-DE1387BF9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657350"/>
            <a:ext cx="1200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mixed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C449CD-1EFE-4DC4-A25D-4FEC992FF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67640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28F285-D3B2-4BE2-BFB8-990EEC003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1657350"/>
            <a:ext cx="1200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old trapping-like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2D9A8B-3100-467F-A887-675E5DFE7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167640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28BE9E-89D4-4F40-808E-8F48657D4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1657350"/>
            <a:ext cx="1200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slow diffusive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4C1A45-3450-4DAF-A95D-F88C527E8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1676400"/>
            <a:ext cx="1333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8A2B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20BEF5-42FD-48AA-80A8-E0BFC0275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1657350"/>
            <a:ext cx="1200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63" b="1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863" b="1">
                <a:solidFill>
                  <a:srgbClr val="667085"/>
                </a:solidFill>
                <a:latin typeface="Aptos"/>
                <a:ea typeface="Aptos"/>
                <a:cs typeface="Aptos"/>
              </a:rPr>
              <a:t>missing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84B6EC-B47B-44CE-8A7F-9BCAEA51E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43125"/>
            <a:ext cx="1428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WT-0416-ARS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6C5958-8872-475B-8D6A-BF61D327F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2143125"/>
            <a:ext cx="366522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303D187-2986-49F7-9938-7051E06D2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4095" y="2143125"/>
            <a:ext cx="128778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7B796C-9D5D-4BA4-BD49-36D6FDEF9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2143125"/>
            <a:ext cx="495300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E4D8C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7C9A6DB-B8D9-434C-85CB-2A6E3E80C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143125"/>
            <a:ext cx="1809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26.0% old trapping-like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450327-E392-43F5-BC99-6EDF86F54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81275"/>
            <a:ext cx="1428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WT-0423-ARS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CCBF0C2-B7D5-4EC7-883D-C7883D73C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2581275"/>
            <a:ext cx="3576066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A6055AA-E636-4285-8EC6-482F784D0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4941" y="2581275"/>
            <a:ext cx="1371981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5009485-49B1-43C5-94A9-B42EF19F3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922" y="2581275"/>
            <a:ext cx="4953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783A6D9-5DA5-4E9A-AFF8-11544B1B8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2581275"/>
            <a:ext cx="495300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E4D8C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B68C369-1135-4CB6-BDEB-F4756F447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581275"/>
            <a:ext cx="1809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27.7% old trapping-like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C6C396C-A709-4602-811D-935508E83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19425"/>
            <a:ext cx="1428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WT-0515-ARS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B320A12-0CA6-4AEF-BF8D-F548FBE89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3019425"/>
            <a:ext cx="495300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9525">
            <a:solidFill>
              <a:srgbClr val="E4D8C9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07CC060-FF20-48C6-B9C8-C67B4755F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3095625"/>
            <a:ext cx="4762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missing classification output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2FCBB82-0489-4C59-956B-590051C6F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019425"/>
            <a:ext cx="1809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missing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5EBA3A0-4B6A-4500-87E7-9E89D92CA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457575"/>
            <a:ext cx="1428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12D-0416-ARS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6821130-B35D-4836-A02B-F089E9792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3457575"/>
            <a:ext cx="3883152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F5004A7-9EF7-4F31-A377-C1D543923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2027" y="3457575"/>
            <a:ext cx="1069848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2A48C2B-6E27-4411-951C-AC1A41930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3457575"/>
            <a:ext cx="495300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E4D8C9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8D6B03E-187D-4149-A61A-DF80E317F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457575"/>
            <a:ext cx="1809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21.6% old trapping-like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61AADF2-CEE3-4945-8B0C-3EB6E41DD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95725"/>
            <a:ext cx="1428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12D-0423-ARS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EA11B97-6F6E-4D22-A721-59E3CC573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3895725"/>
            <a:ext cx="3620643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D55380D-7E13-4119-AB25-202B962DF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9518" y="3895725"/>
            <a:ext cx="1332357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08A9E99-080E-4892-8BFE-9E25FAC4A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3895725"/>
            <a:ext cx="495300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E4D8C9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2E6A2AE-E667-472B-A5C8-74D0313F7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895725"/>
            <a:ext cx="1809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26.9% old trapping-like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E99A16B-D3ED-45CA-BEA1-042BCCE0F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33875"/>
            <a:ext cx="1428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938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12D-0515-ARS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EBEEF17-2FD8-4134-B2B2-80973FDD1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4333875"/>
            <a:ext cx="3680079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6C40B28-615C-4DD5-AAE2-C8560206B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8954" y="4333875"/>
            <a:ext cx="1272921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67404C1-E641-4BB0-B63D-E1C500E73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4333875"/>
            <a:ext cx="495300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E4D8C9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0BEEB27-8128-468F-AD78-CED390702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333875"/>
            <a:ext cx="1809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25.7% old trapping-like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E7DF93C-D989-4F31-BE60-8490664A0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857750"/>
            <a:ext cx="1619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WT ARS average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7D534C0-49EE-4C6F-92EB-7A1C3B987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857750"/>
            <a:ext cx="3620643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203643C-1670-43F8-98D9-56E3C8A6F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7643" y="4857750"/>
            <a:ext cx="1329881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4EEAD68-14C4-4908-8D3D-7CA56A147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7524" y="4857750"/>
            <a:ext cx="2477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78A9377-00A3-410D-80F7-767C96213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4857750"/>
            <a:ext cx="4953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E4D8C9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28B9943-AC86-4CFE-B507-43EE2ADEA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876800"/>
            <a:ext cx="2952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26.9% old trapping-like; 2/3 completed repeats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E80BFC5-C3E1-412C-97C0-B2BACC27C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410200"/>
            <a:ext cx="1619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12D ARS average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6169137-E423-4E3D-82F3-9EB069353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410200"/>
            <a:ext cx="3727958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389854D-28C4-4DA3-A4ED-4566CF3E0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4958" y="5410200"/>
            <a:ext cx="1225042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FBD04D3-0947-4C53-BE5D-6DDE1782B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410200"/>
            <a:ext cx="4953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E4D8C9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06637137-77A3-4385-BD73-46DB31889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429250"/>
            <a:ext cx="2952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5803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5803D"/>
                </a:solidFill>
                <a:latin typeface="Aptos"/>
                <a:ea typeface="Aptos"/>
                <a:cs typeface="Aptos"/>
              </a:rPr>
              <a:t>24.7% old trapping-like; 3/3 completed repeats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4047632-A92F-4C10-A154-2A095C4C3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096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Supervised condensate detection: protein-level views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86C6C8B-245F-475D-9299-70F3573F2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77000"/>
            <a:ext cx="419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79183564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C18B1CC-AD78-412A-B30E-A999712CF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21024E-30F2-4D91-8C49-A7D119EB8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71F6C-EE00-4ED8-9466-79FE3155C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429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REPEAT-LEVEL CAUTION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22266A-7E30-4D3B-8402-9DDE68A43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287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TDP43 averaged condition comparison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8CA0B9-E813-425E-A61D-998964F74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972800" cy="1238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D8C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51D707-1310-4D74-A76E-71BDB55E6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00250"/>
            <a:ext cx="1238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WT CT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591403-A25C-44CF-8FF6-ACD258866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000250"/>
            <a:ext cx="440626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FDB79D-7BBE-490E-ABBB-B6888B0F2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8015" y="2000250"/>
            <a:ext cx="130873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51A0A5-7513-452A-B936-5EF2E9D5C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000250"/>
            <a:ext cx="5715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E4D8C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57F0FE-2F83-4115-80FD-A1A3E618D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038350"/>
            <a:ext cx="257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22.9% old trapping-like | 2/3 completed repeats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73D86F-5AAA-4F0C-A198-4F9C1DDC9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62250"/>
            <a:ext cx="1238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WT ARS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8B1C95-4702-4C15-8E6C-61D4FBC1B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762250"/>
            <a:ext cx="417766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E44E43-A769-4061-97FC-163069A3D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9415" y="2762250"/>
            <a:ext cx="1534478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EEAC58-8A18-482E-9F5F-FF4482D71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3893" y="2762250"/>
            <a:ext cx="2858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1E6EDF-2F5B-4683-BB9F-67953D8A7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762250"/>
            <a:ext cx="5715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E4D8C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86139B5-6BE9-428A-8B03-DB56F25A4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00350"/>
            <a:ext cx="257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26.9% old trapping-like | 2/3 completed repeats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E501DBF-A704-4ABA-AC42-5945C6D26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524250"/>
            <a:ext cx="1238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12D CT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DEF4E9E-7C97-477D-8256-FC0595392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524250"/>
            <a:ext cx="4477703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ED08B51-A00E-4E21-A06E-B18B2327F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9453" y="3524250"/>
            <a:ext cx="1237298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52DC6FA-501F-49BC-9288-B779A064C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524250"/>
            <a:ext cx="5715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E4D8C9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C5EFDBD-0B9B-4F16-8F05-0876EBD36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562350"/>
            <a:ext cx="257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21.6% old trapping-like | 2/3 completed repeats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517B0B8-46BC-45FD-95A6-A7EDFBC4C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286250"/>
            <a:ext cx="1238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72033"/>
                </a:solidFill>
                <a:latin typeface="Aptos"/>
                <a:ea typeface="Aptos"/>
                <a:cs typeface="Aptos"/>
              </a:rPr>
              <a:t>12D ARS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E3B9570-B783-48DC-9219-ED4AC7C93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286250"/>
            <a:ext cx="430149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1DF0B78-65D3-4BCE-948E-1758FC347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3240" y="4286250"/>
            <a:ext cx="141351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1C1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E7F7058-D8BD-4CE3-85D4-AC8F109EE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286250"/>
            <a:ext cx="5715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E4D8C9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C6B8906-CC42-456C-A269-FE451710B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324350"/>
            <a:ext cx="2571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15803D"/>
                </a:solidFill>
                <a:latin typeface="Aptos"/>
                <a:ea typeface="Aptos"/>
                <a:cs typeface="Aptos"/>
              </a:defRPr>
            </a:pPr>
            <a:r>
              <a:rPr sz="1013" b="1">
                <a:solidFill>
                  <a:srgbClr val="15803D"/>
                </a:solidFill>
                <a:latin typeface="Aptos"/>
                <a:ea typeface="Aptos"/>
                <a:cs typeface="Aptos"/>
              </a:rPr>
              <a:t>24.7% old trapping-like | 3/3 completed repeats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5AA5E21-5E45-4E50-80DC-993F20359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429250"/>
            <a:ext cx="9715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Only 12D ARS currently supports a true 3-repeat average. Other averages are shown from completed outputs and should be treated as provisional.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F67B991-A239-4296-94EE-713644DF9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096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Supervised condensate detection: protein-level views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A563E5B-A3F4-4AB5-9953-F24593388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77000"/>
            <a:ext cx="419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473769513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FF1FA5B-7E8C-44B3-A629-314B017A4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156FE8-2C9B-4385-8AEA-D9EF5846C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AEBBEC-755B-472A-BE50-EFFB39973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429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GATE FAILURES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8F8FC4-F9E9-43F2-B349-3FA355650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287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Why target-specific calls stayed at zero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72D1C6-CC15-480E-B6F3-0B48D913C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972800" cy="1238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D8C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4c643ec0a64b70"/>
          <a:stretch xmlns:a="http://schemas.openxmlformats.org/drawingml/2006/main"/>
        </p:blipFill>
        <p:spPr>
          <a:xfrm xmlns:a="http://schemas.openxmlformats.org/drawingml/2006/main">
            <a:off x="876300" y="2147888"/>
            <a:ext cx="5334000" cy="300037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DEC426-C4CF-4BDD-9642-A04033C6E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669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CBA53B-63E1-469D-8F1C-9682C2B87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190750"/>
            <a:ext cx="37719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In the final supervised/control-guided output, every TDP43/NONO target failed at least one strict gate.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9E8FDC-E0F1-4A2C-B174-09B978C1D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8575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FF9F88-0FFA-4260-88EB-7A694D6E8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781300"/>
            <a:ext cx="37719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The dominant bottlenecks were temporal support, control-outlier distinctness, and not-H2B-like behavior.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E0920B-3B65-4C22-B562-BC677917A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4480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3E16AB-3FD7-422D-A20A-349357AF6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371850"/>
            <a:ext cx="37719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Per-condition old trapping-like percentages are useful for triage, but do not override the strict gate results.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913103-2A2D-4B54-8168-2AC62AE73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096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Supervised condensate detection: protein-level views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8AB37D-098D-40C8-A44C-D1F0E1FDA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77000"/>
            <a:ext cx="419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590302751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C7EF06F-E388-4D25-886B-6FF751BC6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1366CE-971D-49A3-87C9-176D67358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1FE31F-CAA7-4DF7-B015-F4D5E9F05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429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WHAT CHANGED IN THIS DECK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50BBB4-000D-4749-B8B9-80B1E2684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287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defRPr>
            </a:pPr>
            <a:r>
              <a:rPr sz="2475" b="1">
                <a:solidFill>
                  <a:srgbClr val="172033"/>
                </a:solidFill>
                <a:latin typeface="Aptos Display"/>
                <a:ea typeface="Aptos Display"/>
                <a:cs typeface="Aptos Display"/>
              </a:rPr>
              <a:t>Interpretation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0841BC-DF63-4A1E-83D3-82481E8DA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972800" cy="1238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D8C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7BCAF8-B6EF-4F72-AA8B-C3D856159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81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C073B5-6FB9-409D-A7FF-F91B9A027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05000"/>
            <a:ext cx="9677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Added separated protein-level slides for H2B, MCM2, MCM2_Bound, NLS, NONO, and TDP43.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535351-F040-424C-81A8-4C8F32F2E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765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DAE6AB-3A20-40BF-9161-DC8DF9336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9677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Added TDP43 WT and 12D condition slides with individual completed trials.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346FA6-EC92-4498-927B-6AF045F90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718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C39AF7-DE21-42BA-85E6-B01FC84AE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895600"/>
            <a:ext cx="9677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Added CT and ARS average slides with repeat-completion status.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138C04-651F-496E-AB48-31DC8ECE2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671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1965AD2-54AF-4DE0-A824-E61DCD356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390900"/>
            <a:ext cx="96774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03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72033"/>
                </a:solidFill>
                <a:latin typeface="Aptos"/>
                <a:ea typeface="Aptos"/>
                <a:cs typeface="Aptos"/>
              </a:rPr>
              <a:t>Kept cautious wording: tracking supports motion-pattern interpretation, not definitive condensate or paraspeckle localization.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F35967-684D-4A63-BAD2-966F2232C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72125"/>
            <a:ext cx="9715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Next analysis batch: rerun missing WT-0515 CT/ARS and 12D-0502 CT outputs through the final supervised classifier before making 3-repeat condition claims.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802B8B-4D30-494B-9F6F-12084CA10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6096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675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Supervised condensate detection: protein-level views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968B7D-49BF-401E-9832-9FC16EB44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77000"/>
            <a:ext cx="419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6708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67085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61728361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2026-05-27T20:56:47.1840000Z</dcterms:created>
  <dcterms:modified xsi:type="dcterms:W3CDTF">2026-05-27T20:56:47.1840000Z</dcterms:modified>
</coreProperties>
</file>