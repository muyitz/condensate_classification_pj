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8e1954b5c461d" /><Relationship Type="http://schemas.openxmlformats.org/officeDocument/2006/relationships/extended-properties" Target="/docProps/app.xml" Id="Rd1c842fe417240f2" /><Relationship Type="http://schemas.openxmlformats.org/officeDocument/2006/relationships/officeDocument" Target="/ppt/presentation.xml" Id="R488c6fe7eef442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969edf6eb49dd"/>
  </p:sldMasterIdLst>
  <p:notesMasterIdLst>
    <p:notesMasterId xmlns:r="http://schemas.openxmlformats.org/officeDocument/2006/relationships" r:id="R5da00c8cf8d14804"/>
  </p:notesMasterIdLst>
  <p:sldIdLst>
    <p:sldId xmlns:r="http://schemas.openxmlformats.org/officeDocument/2006/relationships" id="256" r:id="R5e4dab38f0184262"/>
    <p:sldId xmlns:r="http://schemas.openxmlformats.org/officeDocument/2006/relationships" id="257" r:id="R191deb4a6fc0441d"/>
    <p:sldId xmlns:r="http://schemas.openxmlformats.org/officeDocument/2006/relationships" id="258" r:id="Rcbc2bc20d5c342e9"/>
    <p:sldId xmlns:r="http://schemas.openxmlformats.org/officeDocument/2006/relationships" id="259" r:id="Re46ea87fcb6e43ce"/>
    <p:sldId xmlns:r="http://schemas.openxmlformats.org/officeDocument/2006/relationships" id="260" r:id="R2a207ce4dcab4452"/>
    <p:sldId xmlns:r="http://schemas.openxmlformats.org/officeDocument/2006/relationships" id="261" r:id="Re5b47947351946e0"/>
    <p:sldId xmlns:r="http://schemas.openxmlformats.org/officeDocument/2006/relationships" id="262" r:id="Rbba105a025d14d95"/>
    <p:sldId xmlns:r="http://schemas.openxmlformats.org/officeDocument/2006/relationships" id="263" r:id="R2784ba6a942d4cdb"/>
    <p:sldId xmlns:r="http://schemas.openxmlformats.org/officeDocument/2006/relationships" id="264" r:id="Radd3097b7ba543af"/>
    <p:sldId xmlns:r="http://schemas.openxmlformats.org/officeDocument/2006/relationships" id="265" r:id="Re3bf21369a8f49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969edf6eb49dd" /><Relationship Type="http://schemas.openxmlformats.org/officeDocument/2006/relationships/theme" Target="/ppt/theme/theme1.xml" Id="R4bf94ff2b0684e99" /><Relationship Type="http://schemas.openxmlformats.org/officeDocument/2006/relationships/notesMaster" Target="/ppt/notesMasters/notesMaster1.xml" Id="R5da00c8cf8d14804" /><Relationship Type="http://schemas.openxmlformats.org/officeDocument/2006/relationships/presProps" Target="/ppt/presProps.xml" Id="R74fb981d2fb54cb3" /><Relationship Type="http://schemas.openxmlformats.org/officeDocument/2006/relationships/viewProps" Target="/ppt/viewProps.xml" Id="R187e3c4435864479" /><Relationship Type="http://schemas.openxmlformats.org/officeDocument/2006/relationships/tableStyles" Target="/ppt/tableStyles.xml" Id="R4044a518f41c4f58" /><Relationship Type="http://schemas.openxmlformats.org/officeDocument/2006/relationships/slide" Target="/ppt/slides/slide1.xml" Id="R5e4dab38f0184262" /><Relationship Type="http://schemas.openxmlformats.org/officeDocument/2006/relationships/slide" Target="/ppt/slides/slide2.xml" Id="R191deb4a6fc0441d" /><Relationship Type="http://schemas.openxmlformats.org/officeDocument/2006/relationships/slide" Target="/ppt/slides/slide3.xml" Id="Rcbc2bc20d5c342e9" /><Relationship Type="http://schemas.openxmlformats.org/officeDocument/2006/relationships/slide" Target="/ppt/slides/slide4.xml" Id="Re46ea87fcb6e43ce" /><Relationship Type="http://schemas.openxmlformats.org/officeDocument/2006/relationships/slide" Target="/ppt/slides/slide5.xml" Id="R2a207ce4dcab4452" /><Relationship Type="http://schemas.openxmlformats.org/officeDocument/2006/relationships/slide" Target="/ppt/slides/slide6.xml" Id="Re5b47947351946e0" /><Relationship Type="http://schemas.openxmlformats.org/officeDocument/2006/relationships/slide" Target="/ppt/slides/slide7.xml" Id="Rbba105a025d14d95" /><Relationship Type="http://schemas.openxmlformats.org/officeDocument/2006/relationships/slide" Target="/ppt/slides/slide8.xml" Id="R2784ba6a942d4cdb" /><Relationship Type="http://schemas.openxmlformats.org/officeDocument/2006/relationships/slide" Target="/ppt/slides/slide9.xml" Id="Radd3097b7ba543af" /><Relationship Type="http://schemas.openxmlformats.org/officeDocument/2006/relationships/slide" Target="/ppt/slides/slide10.xml" Id="Re3bf21369a8f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56c6cf156f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0314f285144cf" /><Relationship Type="http://schemas.openxmlformats.org/officeDocument/2006/relationships/notesMaster" Target="/ppt/notesMasters/notesMaster1.xml" Id="R37c2751945f6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91e0b7de049f5" /><Relationship Type="http://schemas.openxmlformats.org/officeDocument/2006/relationships/notesMaster" Target="/ppt/notesMasters/notesMaster1.xml" Id="R9f8fc63c4f7f4d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31a3cf97f34a56" /><Relationship Type="http://schemas.openxmlformats.org/officeDocument/2006/relationships/notesMaster" Target="/ppt/notesMasters/notesMaster1.xml" Id="R203f559687ab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180b881534e16" /><Relationship Type="http://schemas.openxmlformats.org/officeDocument/2006/relationships/notesMaster" Target="/ppt/notesMasters/notesMaster1.xml" Id="R21c8688f5b3a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ea1bbd4844171" /><Relationship Type="http://schemas.openxmlformats.org/officeDocument/2006/relationships/notesMaster" Target="/ppt/notesMasters/notesMaster1.xml" Id="Rf12554a5379e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707f1f1784d1f" /><Relationship Type="http://schemas.openxmlformats.org/officeDocument/2006/relationships/notesMaster" Target="/ppt/notesMasters/notesMaster1.xml" Id="R6cc4307caa7940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ad083313c54506" /><Relationship Type="http://schemas.openxmlformats.org/officeDocument/2006/relationships/notesMaster" Target="/ppt/notesMasters/notesMaster1.xml" Id="Rfc2062294c3f45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004a5a7e04f90" /><Relationship Type="http://schemas.openxmlformats.org/officeDocument/2006/relationships/notesMaster" Target="/ppt/notesMasters/notesMaster1.xml" Id="R9165104e1e4f49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ce70639b64933" /><Relationship Type="http://schemas.openxmlformats.org/officeDocument/2006/relationships/notesMaster" Target="/ppt/notesMasters/notesMaster1.xml" Id="Re56a09eff64e4b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d0d06fc1284677" /><Relationship Type="http://schemas.openxmlformats.org/officeDocument/2006/relationships/notesMaster" Target="/ppt/notesMasters/notesMaster1.xml" Id="R25444bd4011e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d880f98c04ab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8e3726796948b1" /><Relationship Type="http://schemas.openxmlformats.org/officeDocument/2006/relationships/slideLayout" Target="/ppt/slideLayouts/slideLayout2.xml" Id="Rc04d8cd58da6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d8cd58da6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80b5d5d4f4e4a" /><Relationship Type="http://schemas.openxmlformats.org/officeDocument/2006/relationships/notesSlide" Target="/ppt/notesSlides/notesSlide1.xml" Id="R3fa184743b4a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5ace18c93b4b8d" /><Relationship Type="http://schemas.openxmlformats.org/officeDocument/2006/relationships/notesSlide" Target="/ppt/notesSlides/notesSlide2.xml" Id="R815811e0f0ff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8cbfb497a44ef1" /><Relationship Type="http://schemas.openxmlformats.org/officeDocument/2006/relationships/notesSlide" Target="/ppt/notesSlides/notesSlide3.xml" Id="Rbe4a2175decc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6d83fc0f1436d" /><Relationship Type="http://schemas.openxmlformats.org/officeDocument/2006/relationships/notesSlide" Target="/ppt/notesSlides/notesSlide4.xml" Id="R125a435edf1d4d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accb3aa9d475d" /><Relationship Type="http://schemas.openxmlformats.org/officeDocument/2006/relationships/notesSlide" Target="/ppt/notesSlides/notesSlide5.xml" Id="Rc25fe821cfe4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22728127c049f7" /><Relationship Type="http://schemas.openxmlformats.org/officeDocument/2006/relationships/notesSlide" Target="/ppt/notesSlides/notesSlide6.xml" Id="R04a9884e619c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c470963094369" /><Relationship Type="http://schemas.openxmlformats.org/officeDocument/2006/relationships/notesSlide" Target="/ppt/notesSlides/notesSlide7.xml" Id="R562a65d37059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9f4f44e0b4377" /><Relationship Type="http://schemas.openxmlformats.org/officeDocument/2006/relationships/notesSlide" Target="/ppt/notesSlides/notesSlide8.xml" Id="R7512a37ddcc149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11bda564e4278" /><Relationship Type="http://schemas.openxmlformats.org/officeDocument/2006/relationships/notesSlide" Target="/ppt/notesSlides/notesSlide9.xml" Id="R672a551500ea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2ba1ea19c42dd" /><Relationship Type="http://schemas.openxmlformats.org/officeDocument/2006/relationships/notesSlide" Target="/ppt/notesSlides/notesSlide10.xml" Id="Rd21cb19d60944b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02C29-5591-4970-9CEE-3DD79F0D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CB5BD5A-1A39-4D28-8BA8-B66DE32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DEB4F3A0-9321-446F-8E12-6AD46D9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S U P E R V I S E D   C O N D E N S A T E   D E T E C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51F97-C280-44DA-84B4-C8AD3ED2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D93FF-A048-46AD-8DE5-00CB637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We built a reference-based sorter for particle tracks, then asked whether target tracks looked special.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2233C-CA57-4966-B136-508BF4F0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704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Layman version: we showed the computer examples of three familiar movement styles, then compared every TDP43 and NONO track against those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D8E45-32EE-4FB1-B891-8023894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728CA-0CE0-4CED-A655-5C97602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D28F4-6322-45C1-AE3F-83D5B9F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18,671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668FA-949E-4ED8-8384-A73EEBE5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tracks classified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DF45F-FA98-4EFE-8653-74DA581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5C234-BA9B-41D3-AB30-68D213CD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86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6,638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DCD0-5FAF-42CE-A924-50D0174A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86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TDP43 + NONO target tracks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1D376-4105-4D03-8870-C758C46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FA329-9877-4751-8379-C5BDE13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9,372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4F7EA-168B-4935-BA41-6F1737F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 tracks used to teach the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DA10B-2756-4C91-BE7C-798C1AB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8E581-D0FC-4917-9262-0E5D7657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86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45C91-E2E0-4393-85A9-EA771A2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target-specific trapping-like calls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D037D-75B4-4F5C-B159-31C9028E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D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5D52"/>
                </a:solidFill>
                <a:latin typeface="Aptos"/>
                <a:ea typeface="Aptos"/>
                <a:cs typeface="Aptos"/>
              </a:rPr>
              <a:t>Important: this detects track-motion patterns. It does not prove physical condensate localization without condensate masks or marker images.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F7CC8-2358-491C-907C-23317C1C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2A656-6BF7-4163-BE56-86FAE4F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0A55B-DE7C-431C-BDFF-A5E3519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60419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D54E2-27C9-4CEC-B954-6E77E15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80AD3D1-75A9-482C-9108-2D20FE0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ECDF05C-21C5-48B4-A7E0-24AB97B6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P L A I N - E N G L I S H   M E T H O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FA7A7-F24E-41C6-B126-8213DE8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CBBB9-7B0C-4FA2-A47A-8EDA298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analysis works like sorting footprints by comparing them with known walking styles.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49A3C-8BB1-4655-850A-7987340A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FD082-727E-402E-A86A-952764E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1. Collect tracks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2FFF1-FEAA-4ED8-AA04-9E7A04B4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685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Each row is one particle track: where it moved, how long it lasted, and behavior scores.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F840A-1F41-4260-88A0-D49B160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EFF61-1382-4C55-A5D7-360A444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2A55E-DEB1-4BFB-AB5F-E2DECFF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clean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F9B9E-387A-4290-9613-2828ECD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10965-0102-4D0A-A1F2-DF1212C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2. Teach examples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C2F79-556A-4CB1-A994-F3B2C21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685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NLS, H2B, and MCM2_Bound act like labeled examples of known motion.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E1D81-E42A-4227-8C20-967FDF43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7AA1D-1D8F-49EF-95BF-2092B7D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230A0-1A58-4365-BE26-68C0BA7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E72C4-90AB-4147-8503-43BE9B9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98D54-600E-4DC9-A4E8-2CDB1215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3. Compare targets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9D7F0-A105-4569-90D4-FFA5E4EC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1685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TDP43 and NONO are compared against the known examples without being used for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F6F37-4E6D-43F0-B49C-76720DA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CBE2E-D535-4626-B5C4-3B5AD8D9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35B00-7C0B-41EE-A79F-6BAA0EB4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21C96-70B0-45B7-8060-9F699DD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F7B68-5F14-452A-BFBE-8333D0A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4. Assign class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A66F2-2995-4C2F-86F8-CC2686E5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685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Each target gets the closest understandable label, or ambiguous if evidence is weak.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DDBD1-0C6F-497C-A738-06AFF374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Key protection against circular logic: the model never learns from TDP43 or NONO. It only learns from the controls, then evaluates the targets.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5C7AC-9260-4236-9CE0-24B9921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That means a target track must stand apart from NLS, H2B, and MCM2_Bound before it can be called candidate target-specific trapping-like.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ECA40-7B43-4322-B471-CA796A82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19037-81E2-4E3B-98A7-82A8DB5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7C647E-DBA1-454F-A4E6-E7D5F8D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5021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D955F-2C23-4742-84EC-F800365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55390A3-156B-4CE0-B3D2-9F03EF2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69EF798-9D73-4EAF-A093-BC403CB8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C O N T R O L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D5EDB-0AC2-4D2C-9543-FF8451F7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3EBFB-9142-491C-9087-5B9E48B7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Three reference groups define what ordinary movement can look like.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05C55-1DF1-49B7-9394-BB57619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70C6E-9E07-4D6E-9FF9-DDCBED6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NLS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5E44A-2664-4B69-B18A-20676ADB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38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Free-like nuclear movement.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Used as the false-positive floor.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Tracks used: 718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2A626-1145-47E9-B3DB-F68156DF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0833E-0BEF-4FE2-B175-DD09AA6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H2B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73FE-4D80-427C-BBE3-768D497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38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Chromatin-bound confinement.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Used to catch ordinary chromatin-like slow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Tracks used: 8,476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E6281-E6DE-4186-B390-3D638ECC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50D24-178A-4243-814A-4C5A3EFE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C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C57"/>
                </a:solidFill>
                <a:latin typeface="Aptos"/>
                <a:ea typeface="Aptos"/>
                <a:cs typeface="Aptos"/>
              </a:rPr>
              <a:t>MCM2_Bound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84131-54BD-4898-9F79-7CACD02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838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Replication/chromatin-associated bound motion.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Used as a stricter bound-track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Tracks used: 178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AE48E-4E19-4B8A-B252-4D290C43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Why this matters: slow movement alone is not enough. A target track must look unlike these known controls and have temporal support before being treated as candidate trapping-like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4CA85-6711-47F9-A9BE-01B99B20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2685F-9A0D-4126-9D8E-0FBA8ACE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9041C-8005-41E0-B9AA-89867A6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9839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336E1C-B1C8-494F-8188-8B30744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B8ED8D7-87C0-4D57-883F-73D891E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399E3DDE-BD21-4EAF-85E0-3594710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I N P U T   I N V E N T O R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C8BA-2A4E-48B3-82F0-954736D1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D6E04-CDF6-4310-ADA0-EDC0363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dry run found all expected proteins and the manually prepared MCM2-bound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96B23-9BB5-44F4-BBA3-B84BC59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H2B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061D8-AB8B-4240-BAF7-6735660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812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8B07E-5D27-4FC8-B286-8CD57A8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812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64BAB-9DE3-47DF-B306-FF24EC9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8,476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02A5B-8CEB-4464-AB67-EEAE2F2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NONO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53A33-0C8D-479A-82DC-64537FE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FA3F3-DEB4-4597-ADB3-2D56AC1B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77485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8F073-AC17-4B7D-8EBE-CF324E6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3,673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9B65D-B663-4302-A902-AF22EA2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TDP43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5C83-D9B7-4B49-B8F8-6C8825C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BE5A1-22FE-4F8F-A909-B066071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43273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83EF2-EBC2-489F-9280-4C782EB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2,965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85B3E-ABF8-4D0F-A738-D944A2B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MCM2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87CE3-7A50-4D3D-AB4C-6D727D9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58A93-4AC6-4566-BCE4-1F032D8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12858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D3427-037B-41DF-97F1-DC531C3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2,661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DD9D5-92BD-411B-8C0B-E806EC1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NLS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3D596-D159-492B-A337-D63512E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2D13B-5DC5-4B1C-A9FF-F8FA3C8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34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E13F2-B1AC-4D7D-8C93-B5229D8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718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90EA5-E2DC-468E-8384-6AFDF65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MCM2_Bound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EF7A6-8F4A-4427-9DC9-FA56F8EE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3993C-CF67-420E-B7E2-A9A8B9C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860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4BD9C-E2AB-4C06-8807-F35AB132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A8A35-3FBA-48C8-A5A5-4DAFE9D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Dry-run checks passed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BF8D7-13E5-440B-BE22-F463AF5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Found TDP43, NONO, NLS, H2B, MCM2, and the exact single-behaviour-track-MCM2-bound.csv file requested.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9626B-F90C-41F2-A4D2-C4E4842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391 CSV files were discovered across 874 project files.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1D83D2-E4B5-4998-A681-249960D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4943A-7BC9-4CD8-BAE0-9B0B248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EBF94-026C-403B-B16A-F67F3178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56626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24F48-617D-45E9-969B-ED01BDEE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358CE0F-43D4-4C8F-A4D1-2B7FAE47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6F3C821-4B52-4BF0-B70A-CC6BE60B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M O D E L   W O R K F L O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C677F-FFAA-4812-848C-8A3F7BC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7230-0AFE-4285-9C31-CA5BCD0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model used controls as a map, then placed target tracks onto that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0079C-DDC3-4CB1-9E15-218C91DC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A8AD9-373D-4948-91F0-6B455BB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Feature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7C6F-2028-4064-BC35-59C73D3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One row per track. Numeric features were selected, cleaned, imputed, and standardized.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D4BC7-6702-4696-B7EC-1D180038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15B6E-5DF2-4164-8292-6204A60B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68CD3-8D34-40B5-997A-0A22468B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D9082-16FB-44A5-8AB5-05C2892F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Control 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4AB82-3844-43D1-B121-80753C8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Random forest and logistic regression learned NLS vs H2B vs MCM2_Bound.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7023F-5C58-4D10-A0E4-1265B48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5E437-07DF-437E-A92E-E505622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03FD0-F0C1-40B8-B59D-6A9E707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99A2E-73D5-4FC5-B9E0-4F866A8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Distance to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D8B19-E245-4664-8D57-8A6876A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Each track received distances to the three control centers.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A6B25-D00A-48FC-91B1-C193E543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BC111-1879-4F5B-B11F-E8D0895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A80E3-0566-40CB-91BD-F242D27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AEF19-B1E3-41FC-9487-107243A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Final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716B8-00A8-4647-8D0A-54FECE8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Temporal support and diffusive-burst checks decide final class.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CD41C-7E68-4519-9B14-3ED2F9CE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71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2FDBB-9BE4-4834-81CC-3F1261E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No leakage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9A2AE-0276-4CAA-9475-A6FCBE84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148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TDP43 and NONO were transformed by the same preprocessing, but they were not used to fit scalers, classifiers, centroids, or outlier thresholds.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CB60F-ED7B-412A-8C14-DD683252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Classifier sanity check: accuracy 81.3%; balanced accuracy 69.7%.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C49D0-8ECE-4F10-93FC-6801F7A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6280C-B5C8-4CD9-9595-98E48A5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8D9F9-52E6-487D-AAB8-B08A8CC9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55229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2834B-B3C5-4AF9-8BA0-B19F43AB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E413FDE8-7FBE-4D6B-A457-40AB806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A612FAE-F9E8-47EA-99BB-0E6F040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F I N A L   C L A S S I F I C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2F400-54B3-4BC4-9A81-F8EAD67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AEC0E-E8F7-4D25-BBF3-E6F615A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Most tracks were explained by known control-like behavior; none passed the stricter target-specific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10DD-2D63-4860-9766-17F8E069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chromatin bound 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799F-D239-4B4D-A779-625FDD5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E9728-E0F1-405C-8C74-5D3FFD50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034DE-84D7-4706-AF48-1341114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954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14,445 (77.4%)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CA5A4-D28E-4823-89E6-C05DD51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free like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E1197-6DB5-4039-AAE5-712F6E47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7172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7912E-B0CD-4A78-AD34-0AAAE49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71725"/>
            <a:ext cx="91207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CEBEA-1484-4C6C-BA05-7A8CE8FA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336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2,660 (14.2%)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CB55F-EE64-4E9D-BEB0-1EF3BFB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EE17F-DAFC-461A-A407-2E3348FC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98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BE58C-06ED-4F51-9B57-F744C3B3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9875"/>
            <a:ext cx="3847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5DF96-65DB-487B-99A5-9D9FF58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717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1,122 (6.0%)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D0530-94EE-44FE-B744-E2442379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mcm bound like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13C35-66A6-43A7-BDDE-317A5FF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4802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2DDF3-AAE2-4C82-AAE4-4A257B4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48025"/>
            <a:ext cx="1522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C026D-4555-4B33-A323-2B7F310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444 (2.4%)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7E4C8-EC2C-4A50-82BD-B49C74A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2BAC-1185-4220-99E2-ABFA8D3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861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28D09-6E62-44F1-B76A-5FE33EB2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86175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1C106-D95C-4083-AD2F-1CE8E8CC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480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 (0.0%)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C039A-9436-4E3B-A943-12D8F9A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target specific trapping like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59926-CF80-4B9F-B2FD-C5C72B3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2432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AF21D-2C9E-43B8-A7D9-3F9B58FB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24325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F1D72-82EA-45E2-AAEE-133B0234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862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 (0.0%)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291EA-A552-4E17-BCE2-62E6436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slow diffusive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54C6F-D85A-4329-87A0-1A9BD7DD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624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30BAE0-A711-479C-894E-ECFA0ED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62475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B152E-9A7F-48C1-BF3A-A5E6F70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243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 (0.0%)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F1127-F92B-45EB-BEF3-2E41FB5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Headline 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9E9ADD-830F-4275-BABB-A9F18BE2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The pipeline was conservative. It did not find target tracks that were simultaneously distinct from controls, temporally supported, and free of the diffusive-burst penalty.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B2781-1FAD-44A7-BEF5-BE986C8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5D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5D52"/>
                </a:solidFill>
                <a:latin typeface="Aptos"/>
                <a:ea typeface="Aptos"/>
                <a:cs typeface="Aptos"/>
              </a:rPr>
              <a:t>Zero target-specific calls is a result, not a crash: the classifier chose caution over overclaiming.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FFFCB-F7E8-4194-AB47-7C39261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05B27-E5E8-48E3-9CBC-5B80026E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CD3F3-4259-47FE-876F-BF5A01A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76955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78BCE-D9AE-455A-9541-A52E19D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4BCEE369-D7B4-4CD3-B3C9-37E48FAE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45DAAC3-1A1B-4FF9-8C10-C54658DF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P R O T E I N - L E V E L   V I E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607B3-9AF9-4D08-B592-FB4E9EFC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7D995-B457-4C9C-9936-36DA9DC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TDP43 and NONO target tracks mainly landed in control-like or ambiguous bins.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DB86E-B07D-4922-B312-EFCA3A1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H2B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A3DD0-DB6B-4B28-B161-8795F36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288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8,476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306C5-023C-4F50-BA9F-F29E301A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631481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8E84-7A52-4560-8CD6-38A95097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119" y="1847850"/>
            <a:ext cx="25743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1E2AB-7947-4869-BAE7-79B39D5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64D66-EEF5-421B-AB2C-E97ABA62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54E82-7012-42BE-8EC4-308B621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FC0A9-979C-48ED-A3D7-C53EA022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85E1D-C272-443B-A9EE-21CF4E93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NONO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6465B-6433-4562-A844-417F234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3,673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3A97D-00A0-49F3-8D80-AD867EF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514614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E97A6-874B-4135-B83C-742F6CD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445" y="2438400"/>
            <a:ext cx="42407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E3F05-8F50-4668-9AFD-306CCF77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19" y="2438400"/>
            <a:ext cx="22187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743D7-3E81-4DAB-909E-6407662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397" y="2438400"/>
            <a:ext cx="78015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AE20F-32C0-4730-9FD5-5CEFC44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C86FF-62E5-4FA2-AE42-2182853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D320E-8B5E-4277-BC74-7115747D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TDP43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CB66E-503B-4D5C-83F8-954F9959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99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2,965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61AEE-8132-4248-AD1B-AF18867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28950"/>
            <a:ext cx="391453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A5017-B925-4BCE-A3BE-86152E8F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834" y="3028950"/>
            <a:ext cx="167797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63377-3699-4F17-9B27-D9406DF2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808" y="3028950"/>
            <a:ext cx="15294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CF17E-BDEC-41AE-9B79-2B99F4D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54" y="3028950"/>
            <a:ext cx="82679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F6D80-30E4-4A4D-ADBF-DBC1D0B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240F8-F810-43EA-B326-8BE7D052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E1449-8309-4686-9AD6-5DA0905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MCM2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D6808-B27B-4008-8459-0DF53B43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00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2,661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DD19C-6C22-451A-AE20-BA717B5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40974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BFD78E-25BC-4807-80DA-4E3F8945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768" y="3619500"/>
            <a:ext cx="152142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905ED-CB47-40D4-8C0B-99EBC20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91" y="3619500"/>
            <a:ext cx="18029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A2315F-3682-4D83-854A-20EA554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89" y="3619500"/>
            <a:ext cx="77306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0938A-C590-4B0E-B177-5F97438E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E92BA2-7103-4080-AA90-95DFE3A9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DAC0AC-3916-4FCA-903A-86DE216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NLS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F6BA68-F413-40AB-8B1B-38651EA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91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718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C57F61-E0F5-461E-A67C-D901446B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00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42F9F4-3FF9-4FA2-BC74-859F49C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0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7A3F4E-B1EA-4AC5-8C00-FA4F539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6B713C-6717-40E4-8A59-BA233A7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80B04A-39CC-46D0-9A72-8FA2DDB3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64E6DB-4814-4CEA-8C43-D6368581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E1B957-233D-460B-96CA-93F131A0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MCM2_Bound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6E500D-7C22-46FC-9F37-8E22618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815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2DF00C-B0CA-4DD1-9085-38B8258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EA68F4-D187-4440-B702-706F188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E313BF-AC14-4964-8B5D-BE0B4C3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074F51-D602-4632-A341-A2459C86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16E851-AD47-411F-951F-1698212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439C32-83A1-4AFB-856F-96AC4564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8155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0.0% target-specific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6ED688-6995-4546-AE17-922EA9F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4F7763-BA4E-4F8F-BCC7-3B4E4A3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chromatin bound-like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610CA5-1BE0-4713-BC29-6A36A59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FCE0A7-D722-4668-9842-5896AF7F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free-like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39B68E-FC2C-4AC7-8EA6-BB69FAC1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67B5B0-0ECA-40BC-9E69-C8D4286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MCM-bound-like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BDF477-F848-4814-9928-B6F2A69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9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D564D2-F78F-473E-BE15-A58EACEF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B52E4A-AAC8-4E00-9DC5-DD2E6D6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C4F159-3B2C-4E62-9F70-635333E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target-specific trapping-like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E07382-5A86-4BE3-8612-24ED928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531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5D5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75D52"/>
                </a:solidFill>
                <a:latin typeface="Georgia"/>
                <a:ea typeface="Georgia"/>
                <a:cs typeface="Georgia"/>
              </a:rPr>
              <a:t>The key target-specific percentage is 0.0% for every protein in this run.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812BA2-6EEF-43F3-B776-F05B325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408BEC-E111-4750-8FFA-FFEEDCEF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B94FE4-8096-4F8E-BE4E-9F2E2EF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63524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39CFF-3A54-45B5-A96A-F24E73B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DD8D00C4-FE54-41F1-B814-C2AD46B1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AF7B071-E6F9-4F21-8EEC-316E5943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D E C I S I O N   L O G I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9D23F-0335-4F3E-8CCA-D2DAB87C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2C5DF-9499-46D0-9B53-4A07F06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A target-specific call required several gates to pass at the same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8409E-E3B5-452A-9C35-346C57BE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B6C15-B8B2-48C6-8DD5-6BF5834E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4AF1D-4603-40C1-B2CA-25DD6AEF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Not free-like compared with NLS.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9663C-E28D-4C16-9E5A-462E56E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5B6DE-51CD-4EA2-911E-C08AEC9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7012F-0AD4-4AD9-814A-C1204C05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82CA6-A10A-45C1-B4E3-6DBEFFD7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E648B-5092-41C7-ABA5-E733D4B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Not explained by H2B chromatin-bound motion.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57EFF-1441-4EF2-BA0B-F2006F4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0D5D7-D44C-481D-8F3E-0DD343A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2DDE3-5850-4152-98D0-B40C409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1C160-D354-40B6-9BE8-9C30ED13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BFB92-7863-4C77-9A08-741DCD5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Not explained by MCM2_Bound motion.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5B615-DA92-4B31-92F8-2640C545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34764-E18E-4E48-A7EE-DAD2032A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85B78-C2A9-403C-AF25-895FCF2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F8F0C-0B57-4FC3-AC87-525D7AC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050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Gate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32A0F-C943-4E38-A165-7B7FEDA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Temporal trapping support is present.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F6A62-AF08-41B8-AD57-1DB0385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62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AC3D4-69CC-4F27-969C-5247380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F94D2-D753-4553-92B5-95016D67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90750"/>
            <a:ext cx="1047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80AC1-774F-44A0-A85D-3728A4C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050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Gate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1D92C-F484-4488-9E66-1B19E7D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781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 strong diffusive burst.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39AE-B0F1-4F06-BED7-2DD9F2C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435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5D5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B75D52"/>
                </a:solidFill>
                <a:latin typeface="Georgia"/>
                <a:ea typeface="Georgia"/>
                <a:cs typeface="Georgia"/>
              </a:rPr>
              <a:t>Result: no target track passed all gates.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7D6D2-929B-4CB1-86CA-0F55233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In layman terms, some tracks may be slow or control-like, but none had enough evidence to say they were a distinct target-specific trapping pattern.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CBEA74-844F-46EC-9E69-62B4A49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56A39-249B-434A-AC0A-4F972DA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151E9-F844-4F47-8291-8A563B6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28392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D7AA6-8BF6-4C23-B45F-DF6DE0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0A9ADFD-2488-404B-91F8-31855A5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281D48B-DD86-476A-A688-F3B0D703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I N T E R P R E T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C6C71-C639-4E03-BCA6-39C8749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C5E9C-B4D1-49E7-97E9-8856DAE4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safe conclusion is about motion, not physical condensate 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E6A36-A143-4FEE-BD0C-59EAB69F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02120-6445-4A9F-B483-028E557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C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C57"/>
                </a:solidFill>
                <a:latin typeface="Aptos"/>
                <a:ea typeface="Aptos"/>
                <a:cs typeface="Aptos"/>
              </a:rPr>
              <a:t>What this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55015-3AB8-4635-AFC0-706A4898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647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The target tracks were compared against free-like, chromatin-bound, and MCM-bound controls using the same feature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B1845-FC20-471E-8871-ECD1F56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BC461-A68C-49FF-B34A-76C563B6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D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5D52"/>
                </a:solidFill>
                <a:latin typeface="Aptos"/>
                <a:ea typeface="Aptos"/>
                <a:cs typeface="Aptos"/>
              </a:rPr>
              <a:t>What it does not 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30B7-E0A3-45A0-9A4B-BD3384C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47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It does not prove tracks are inside condensates. That would require condensate masks or marker images aligned to the tracks.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D6C04-ABD1-4B43-8B52-0E4A5384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619CF-C4F3-45E4-93C9-D5894A14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What to do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E04AD-77DA-4F2B-897B-F77980B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647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Overlay candidate tracks with condensate markers, inspect ambiguous target tracks, and test whether temporal features are missing or too sparse.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54B46-CFAA-4346-AD65-9762944F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Cautious wording to use: candidate target-specific trapping-like dynamics, control-guided trapping-like classification, or track dynamics consistent with confinement.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80AB-17C7-4683-BB92-0E89FFC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2CAA0-7C57-4E08-A1C0-F38EA97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A87AD-4E2B-4C21-9BB9-39839FE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74744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9765F-4022-454E-873B-8131F070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93E30FB-8B74-479C-9EC7-61F4A6D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C63D55BD-1F9C-471D-895D-C21FE6F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W H E R E   T O   L O O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15DF7-9486-4B56-865B-7ED8A4A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D9A76-E806-4A09-97A6-F3D88EC6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The project folder now contains both machine-readable results and human-readable summaries.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65926-5ACD-43DF-A777-1E838A85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777C5-7396-4A1F-92FF-19A3C717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981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Main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6F5FA-52A8-4F7E-B70F-5181599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981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final_control_guided_track_classification.csv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One row per track with final class and reason.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6A5EC-CDF7-46E2-AE69-A87D2F2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BBE4D-EDBE-42B9-AAB5-3C80EDA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2981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Summary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F3BF9-4B19-45E0-A075-2AF28F5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981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summary_by_protein.csv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summary_by_dataset.csv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replicate_level_class_fractions.csv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29E60-8B63-46FD-8B46-E01F5E5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9C9DD-80B1-4D35-A8E3-7CD7DCE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981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C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C57"/>
                </a:solidFill>
                <a:latin typeface="Aptos"/>
                <a:ea typeface="Aptos"/>
                <a:cs typeface="Aptos"/>
              </a:rPr>
              <a:t>Easy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DE9D2-DCD2-4E24-82E6-FED8128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2981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EXECUTIVE_SUMMARY.md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simplified_results_table.xlsx</a:t>
            </a:r>
          </a:p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figures in easy_interpretation/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00624-8F62-4FFB-B46A-DD81AF1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Recommended read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B7673-7ACC-422A-A766-A0E92B3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71950"/>
            <a:ext cx="647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1. Start with EXECUTIVE_SUMMARY.md</a:t>
            </a:r>
          </a:p>
          <a:p xmlns:a="http://schemas.openxmlformats.org/drawingml/2006/main">
            <a:pPr algn="l">
              <a:defRPr sz="12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2. Open simplified_results_table.xlsx</a:t>
            </a:r>
          </a:p>
          <a:p xmlns:a="http://schemas.openxmlformats.org/drawingml/2006/main">
            <a:pPr algn="l">
              <a:defRPr sz="12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3. Use final_control_guided_track_classification.csv for track-level inspection</a:t>
            </a:r>
          </a:p>
          <a:p xmlns:a="http://schemas.openxmlformats.org/drawingml/2006/main">
            <a:pPr algn="l">
              <a:defRPr sz="12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4. Revisit ambiguous TDP43/NONO tracks if adding condensate masks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3D504-0DD5-47D9-A9E5-77ABB57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All outputs are under D:\Tianzi\condensate_classification_pj\control_guided_classification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D48A7-0F3F-4B71-AD25-FAEEE1FF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B0AE1-9030-4319-8534-E125812F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17D"/>
                </a:solidFill>
                <a:latin typeface="Aptos"/>
                <a:ea typeface="Aptos"/>
                <a:cs typeface="Aptos"/>
              </a:rPr>
              <a:t>Control-guided condensate classification | generated from project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C52EA-F846-4485-B73C-72199430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17D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784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2026-05-26T14:02:15.4950000Z</dcterms:created>
  <dcterms:modified xsi:type="dcterms:W3CDTF">2026-05-26T14:02:15.4950000Z</dcterms:modified>
</coreProperties>
</file>