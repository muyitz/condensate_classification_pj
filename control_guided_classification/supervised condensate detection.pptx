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6959d2794246f0" /><Relationship Type="http://schemas.openxmlformats.org/officeDocument/2006/relationships/extended-properties" Target="/docProps/app.xml" Id="R87decbeb991b4ead" /><Relationship Type="http://schemas.openxmlformats.org/officeDocument/2006/relationships/officeDocument" Target="/ppt/presentation.xml" Id="R2b392e827e5646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1e99e91d024528"/>
  </p:sldMasterIdLst>
  <p:notesMasterIdLst>
    <p:notesMasterId xmlns:r="http://schemas.openxmlformats.org/officeDocument/2006/relationships" r:id="Ra0f1c3744a344094"/>
  </p:notesMasterIdLst>
  <p:sldIdLst>
    <p:sldId xmlns:r="http://schemas.openxmlformats.org/officeDocument/2006/relationships" id="256" r:id="R82d9f97005584f74"/>
    <p:sldId xmlns:r="http://schemas.openxmlformats.org/officeDocument/2006/relationships" id="257" r:id="R418acc9db81a4f9d"/>
    <p:sldId xmlns:r="http://schemas.openxmlformats.org/officeDocument/2006/relationships" id="258" r:id="Rdd4fca8b58a740d0"/>
    <p:sldId xmlns:r="http://schemas.openxmlformats.org/officeDocument/2006/relationships" id="259" r:id="Re7d33ba871074e4e"/>
    <p:sldId xmlns:r="http://schemas.openxmlformats.org/officeDocument/2006/relationships" id="260" r:id="R5deac778516f4d13"/>
    <p:sldId xmlns:r="http://schemas.openxmlformats.org/officeDocument/2006/relationships" id="261" r:id="Re68d8db0824c48ab"/>
    <p:sldId xmlns:r="http://schemas.openxmlformats.org/officeDocument/2006/relationships" id="262" r:id="R4dad08a4ea14413b"/>
    <p:sldId xmlns:r="http://schemas.openxmlformats.org/officeDocument/2006/relationships" id="263" r:id="R79db6e0bb7e54150"/>
    <p:sldId xmlns:r="http://schemas.openxmlformats.org/officeDocument/2006/relationships" id="264" r:id="R62fce58ebc204e23"/>
    <p:sldId xmlns:r="http://schemas.openxmlformats.org/officeDocument/2006/relationships" id="265" r:id="Re561d7e81e73439e"/>
    <p:sldId xmlns:r="http://schemas.openxmlformats.org/officeDocument/2006/relationships" id="266" r:id="R86b1b6121bba43fa"/>
    <p:sldId xmlns:r="http://schemas.openxmlformats.org/officeDocument/2006/relationships" id="267" r:id="R6c7e7723869e405c"/>
    <p:sldId xmlns:r="http://schemas.openxmlformats.org/officeDocument/2006/relationships" id="268" r:id="Rb017a1142c434975"/>
    <p:sldId xmlns:r="http://schemas.openxmlformats.org/officeDocument/2006/relationships" id="269" r:id="R52d0ec1aa384499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1e99e91d024528" /><Relationship Type="http://schemas.openxmlformats.org/officeDocument/2006/relationships/theme" Target="/ppt/theme/theme1.xml" Id="R0fc8afa7da484a98" /><Relationship Type="http://schemas.openxmlformats.org/officeDocument/2006/relationships/notesMaster" Target="/ppt/notesMasters/notesMaster1.xml" Id="Ra0f1c3744a344094" /><Relationship Type="http://schemas.openxmlformats.org/officeDocument/2006/relationships/presProps" Target="/ppt/presProps.xml" Id="Rf794a6b059f04bf9" /><Relationship Type="http://schemas.openxmlformats.org/officeDocument/2006/relationships/viewProps" Target="/ppt/viewProps.xml" Id="R42f223ba28b7452c" /><Relationship Type="http://schemas.openxmlformats.org/officeDocument/2006/relationships/tableStyles" Target="/ppt/tableStyles.xml" Id="R35c97cdbb2304603" /><Relationship Type="http://schemas.openxmlformats.org/officeDocument/2006/relationships/slide" Target="/ppt/slides/slide1.xml" Id="R82d9f97005584f74" /><Relationship Type="http://schemas.openxmlformats.org/officeDocument/2006/relationships/slide" Target="/ppt/slides/slide2.xml" Id="R418acc9db81a4f9d" /><Relationship Type="http://schemas.openxmlformats.org/officeDocument/2006/relationships/slide" Target="/ppt/slides/slide3.xml" Id="Rdd4fca8b58a740d0" /><Relationship Type="http://schemas.openxmlformats.org/officeDocument/2006/relationships/slide" Target="/ppt/slides/slide4.xml" Id="Re7d33ba871074e4e" /><Relationship Type="http://schemas.openxmlformats.org/officeDocument/2006/relationships/slide" Target="/ppt/slides/slide5.xml" Id="R5deac778516f4d13" /><Relationship Type="http://schemas.openxmlformats.org/officeDocument/2006/relationships/slide" Target="/ppt/slides/slide6.xml" Id="Re68d8db0824c48ab" /><Relationship Type="http://schemas.openxmlformats.org/officeDocument/2006/relationships/slide" Target="/ppt/slides/slide7.xml" Id="R4dad08a4ea14413b" /><Relationship Type="http://schemas.openxmlformats.org/officeDocument/2006/relationships/slide" Target="/ppt/slides/slide8.xml" Id="R79db6e0bb7e54150" /><Relationship Type="http://schemas.openxmlformats.org/officeDocument/2006/relationships/slide" Target="/ppt/slides/slide9.xml" Id="R62fce58ebc204e23" /><Relationship Type="http://schemas.openxmlformats.org/officeDocument/2006/relationships/slide" Target="/ppt/slides/slide10.xml" Id="Re561d7e81e73439e" /><Relationship Type="http://schemas.openxmlformats.org/officeDocument/2006/relationships/slide" Target="/ppt/slides/slide11.xml" Id="R86b1b6121bba43fa" /><Relationship Type="http://schemas.openxmlformats.org/officeDocument/2006/relationships/slide" Target="/ppt/slides/slide12.xml" Id="R6c7e7723869e405c" /><Relationship Type="http://schemas.openxmlformats.org/officeDocument/2006/relationships/slide" Target="/ppt/slides/slide13.xml" Id="Rb017a1142c434975" /><Relationship Type="http://schemas.openxmlformats.org/officeDocument/2006/relationships/slide" Target="/ppt/slides/slide14.xml" Id="R52d0ec1aa38449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306fd15e7f44f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a7edcdf315498c" /><Relationship Type="http://schemas.openxmlformats.org/officeDocument/2006/relationships/notesMaster" Target="/ppt/notesMasters/notesMaster1.xml" Id="Rf96757925cea47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d288d2fd6549c9" /><Relationship Type="http://schemas.openxmlformats.org/officeDocument/2006/relationships/notesMaster" Target="/ppt/notesMasters/notesMaster1.xml" Id="R8f0712e448214a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85c3853e8849d6" /><Relationship Type="http://schemas.openxmlformats.org/officeDocument/2006/relationships/notesMaster" Target="/ppt/notesMasters/notesMaster1.xml" Id="R0d972af9d77641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f74de5753344af" /><Relationship Type="http://schemas.openxmlformats.org/officeDocument/2006/relationships/notesMaster" Target="/ppt/notesMasters/notesMaster1.xml" Id="Rab294bd5edb74b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b55bccacae48cd" /><Relationship Type="http://schemas.openxmlformats.org/officeDocument/2006/relationships/notesMaster" Target="/ppt/notesMasters/notesMaster1.xml" Id="R36c55a68dca247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87dd23c81d41c6" /><Relationship Type="http://schemas.openxmlformats.org/officeDocument/2006/relationships/notesMaster" Target="/ppt/notesMasters/notesMaster1.xml" Id="R58238f8cce3346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ff74662f044823" /><Relationship Type="http://schemas.openxmlformats.org/officeDocument/2006/relationships/notesMaster" Target="/ppt/notesMasters/notesMaster1.xml" Id="R432374b09ea148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50895443734276" /><Relationship Type="http://schemas.openxmlformats.org/officeDocument/2006/relationships/notesMaster" Target="/ppt/notesMasters/notesMaster1.xml" Id="R7d86451b5bdd40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31ff9cd66a4b92" /><Relationship Type="http://schemas.openxmlformats.org/officeDocument/2006/relationships/notesMaster" Target="/ppt/notesMasters/notesMaster1.xml" Id="R5278d896e64147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07fab1c9324b8b" /><Relationship Type="http://schemas.openxmlformats.org/officeDocument/2006/relationships/notesMaster" Target="/ppt/notesMasters/notesMaster1.xml" Id="R2a988df1218d4c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becd1f04ca41c3" /><Relationship Type="http://schemas.openxmlformats.org/officeDocument/2006/relationships/notesMaster" Target="/ppt/notesMasters/notesMaster1.xml" Id="R08578ccc564d46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be2947e67d484b" /><Relationship Type="http://schemas.openxmlformats.org/officeDocument/2006/relationships/notesMaster" Target="/ppt/notesMasters/notesMaster1.xml" Id="R3a76acfe403747f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ebf48e902e49c0" /><Relationship Type="http://schemas.openxmlformats.org/officeDocument/2006/relationships/notesMaster" Target="/ppt/notesMasters/notesMaster1.xml" Id="R50d26066009447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a5debd6d4848b2" /><Relationship Type="http://schemas.openxmlformats.org/officeDocument/2006/relationships/notesMaster" Target="/ppt/notesMasters/notesMaster1.xml" Id="Rc7d022802cda4a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cb39140d3c4fc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823dc85393e4251" /><Relationship Type="http://schemas.openxmlformats.org/officeDocument/2006/relationships/slideLayout" Target="/ppt/slideLayouts/slideLayout2.xml" Id="R97993e6d956949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993e6d956949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1a508a06464f14" /><Relationship Type="http://schemas.openxmlformats.org/officeDocument/2006/relationships/notesSlide" Target="/ppt/notesSlides/notesSlide1.xml" Id="Rd59a67d91d8c4c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4ccc37eae34428" /><Relationship Type="http://schemas.openxmlformats.org/officeDocument/2006/relationships/notesSlide" Target="/ppt/notesSlides/notesSlide2.xml" Id="R3026a6fb63ea4e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4b4e0e716c4677" /><Relationship Type="http://schemas.openxmlformats.org/officeDocument/2006/relationships/notesSlide" Target="/ppt/notesSlides/notesSlide3.xml" Id="R43cf5ad2e20d46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e0d8ed503c46f3" /><Relationship Type="http://schemas.openxmlformats.org/officeDocument/2006/relationships/notesSlide" Target="/ppt/notesSlides/notesSlide4.xml" Id="Rba0683d30ad144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152a968a174f97" /><Relationship Type="http://schemas.openxmlformats.org/officeDocument/2006/relationships/notesSlide" Target="/ppt/notesSlides/notesSlide5.xml" Id="R5716a9859d3e43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6bdcac07fb4dc6" /><Relationship Type="http://schemas.openxmlformats.org/officeDocument/2006/relationships/image" Target="/ppt/media/image.png" Id="R873789b5e4c74267" /><Relationship Type="http://schemas.openxmlformats.org/officeDocument/2006/relationships/notesSlide" Target="/ppt/notesSlides/notesSlide6.xml" Id="Rad396915d86545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18ec3db7ca42e1" /><Relationship Type="http://schemas.openxmlformats.org/officeDocument/2006/relationships/image" Target="/ppt/media/image2.png" Id="R4e627843cf934036" /><Relationship Type="http://schemas.openxmlformats.org/officeDocument/2006/relationships/image" Target="/ppt/media/image3.png" Id="R8da17a2875ec40ac" /><Relationship Type="http://schemas.openxmlformats.org/officeDocument/2006/relationships/notesSlide" Target="/ppt/notesSlides/notesSlide7.xml" Id="R57ca100fe9f74e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9d0fab161c4360" /><Relationship Type="http://schemas.openxmlformats.org/officeDocument/2006/relationships/notesSlide" Target="/ppt/notesSlides/notesSlide8.xml" Id="Re9166088a11641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658dd71eed48cf" /><Relationship Type="http://schemas.openxmlformats.org/officeDocument/2006/relationships/image" Target="/ppt/media/image4.png" Id="R909e71e47ed64ccc" /><Relationship Type="http://schemas.openxmlformats.org/officeDocument/2006/relationships/image" Target="/ppt/media/image5.png" Id="Rafa4ac3aa366485d" /><Relationship Type="http://schemas.openxmlformats.org/officeDocument/2006/relationships/notesSlide" Target="/ppt/notesSlides/notesSlide9.xml" Id="R427fd67c3d9a48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db7953bcf641a2" /><Relationship Type="http://schemas.openxmlformats.org/officeDocument/2006/relationships/image" Target="/ppt/media/image6.png" Id="R5dcf42a099344377" /><Relationship Type="http://schemas.openxmlformats.org/officeDocument/2006/relationships/notesSlide" Target="/ppt/notesSlides/notesSlide10.xml" Id="R91b0638c953d42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0096cb275344f5" /><Relationship Type="http://schemas.openxmlformats.org/officeDocument/2006/relationships/image" Target="/ppt/media/image7.png" Id="R9cefa5557ca64142" /><Relationship Type="http://schemas.openxmlformats.org/officeDocument/2006/relationships/notesSlide" Target="/ppt/notesSlides/notesSlide11.xml" Id="Rf93e177c91964b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333269ff67486d" /><Relationship Type="http://schemas.openxmlformats.org/officeDocument/2006/relationships/notesSlide" Target="/ppt/notesSlides/notesSlide12.xml" Id="R56d107f16207411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85107674c04801" /><Relationship Type="http://schemas.openxmlformats.org/officeDocument/2006/relationships/image" Target="/ppt/media/image8.png" Id="R9efcc941cc854db0" /><Relationship Type="http://schemas.openxmlformats.org/officeDocument/2006/relationships/image" Target="/ppt/media/image9.png" Id="R2589cec3d36b43b1" /><Relationship Type="http://schemas.openxmlformats.org/officeDocument/2006/relationships/notesSlide" Target="/ppt/notesSlides/notesSlide13.xml" Id="R4b45a3066c1045e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7722ade8ba4b25" /><Relationship Type="http://schemas.openxmlformats.org/officeDocument/2006/relationships/notesSlide" Target="/ppt/notesSlides/notesSlide14.xml" Id="Re257d96f90ee458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844DD8-866F-45E3-ACFB-CBD2EEF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55F8B-A949-4707-8954-21F68580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AD3BD-5CB2-432C-A3C7-6425DDD1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Supervised condensate detection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8F741-D94F-4227-B011-C6D39AAF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Updated control-guided interpretation with H2B-bound vs MCM2-bound diagnostics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DC1B8-C1AE-4D8F-A35B-D6F83F48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B9237-46CA-471C-AB18-CC14391E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78D2B-F01A-4AA9-967F-6B5CD6E7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18,671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2A202-6726-407F-A5AA-7C691736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tracks in final control-guided 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D6916-CA95-4074-8048-67F45CD5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88050A-A71D-454D-9632-5F052BEA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CC2787-DA0B-4CA6-9F75-7371476D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6712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6,638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82501F-CF28-4AD9-A631-2C7600C8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0527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TDP43 + NONO target tracks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6E95C-8F8A-4221-A368-16D65384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7662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2D018-F03B-488C-90A9-90FFC0EF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7662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2291A-12BE-4087-A093-7BED5D0B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6712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9CE9CF-28F4-4E9A-9612-DE2F25E7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0527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 trapping-like calls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C28E2-211B-40F4-A3C5-AD531281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7662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DB5C92-8D9C-4F93-BAD6-05E1E621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7662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013422-B735-4C9F-8B49-0F6D62A3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6712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1,214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4A2DEF-5795-4A25-BD8B-B6F0257D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0527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 target tracks for 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5BF95C-CD83-48F6-8028-D18DCF22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981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Layman version: the model compares each particle track to familiar movement examples, then asks whether target tracks show a motion pattern not explained by controls.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8DB203-3A96-4956-873B-AEB1DD6B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44869B-4CB2-4264-9D7A-E1F9BEB1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800039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33ACC0-F4DC-4391-9B63-D1D91673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EC1B5-6FD8-4AAD-B333-BEBC67A0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6CC07-22E1-4DFD-ABA1-77F71E82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HOW TO READ THIS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E4C080-1ADD-42BA-8631-A533CFA9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Plain-English Method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FF885-5B93-4B62-BAF0-5DFC3CA7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87419-C8A1-4899-868F-445A5295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28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547C1-D8CA-4710-87E0-E9D14E08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677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Collect tracks: each row describes one moving particle and its behavior scores.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C3BFF-91F7-4164-B916-2D1E0A40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81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6E2D5-0DCE-4F35-9B07-5A7383EF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05075"/>
            <a:ext cx="9677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Teach examples: NLS, H2B, and MCM2_Bound describe known reference movement patterns.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46490-9BCE-4B19-968B-5A76BA1C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912FC-F265-4998-AB14-6720F1A9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57525"/>
            <a:ext cx="9677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Compare targets: TDP43 and NONO are placed on the same map, without using them to train the bound-control classifier.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3A442-5E59-4CF5-B1E5-C73D9420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8C93F-C9B7-41D5-9F5C-CC2655F0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09975"/>
            <a:ext cx="9677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Call only the strict cases: a target-specific label requires passing several gates at once.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4723C-908A-48C1-8DAD-63BCA0F0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B3839-BFFB-4019-8724-02D573C3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108189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7D9493-8B2C-41E8-8C59-D907F523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BF021-1569-4693-A976-1C1D786A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D0F5B5-1AEF-41EA-8E17-B20F8153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REFERENCE GROUPS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DB658-D2B6-45AA-BF09-FB6276F6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Controls define the ordinary motion space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3D9C5-BD03-4501-B3B6-0E003C8C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6BAED-A0F1-4D0A-A820-0C17A652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7FFCC-D13D-46AB-88C6-A13D2C88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7CC609-69DF-4C6B-B1AE-A9657B0A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718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BF7D0-ABCE-4A1D-8DA5-04283D13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NLS free-like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6724A-C51F-4FD4-9800-AF6FC776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1BE98C-073C-41F5-919F-85E0D783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57442-EAFE-4841-9689-F666897C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907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8,476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655735-5C0F-4C83-8D87-F930636E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289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H2B chromatin-like tracks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93AF9-8A02-47CB-B742-8CC576F1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D63DA-23AB-4A22-BD88-90F09DD4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BA013-65D6-4C2D-968B-9D79D882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907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178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5AC1B-6ECE-4772-807C-D8F4E8E5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289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high-confidence MCM2_Bound tracks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20FAD-AC6B-4C0C-A57A-29877D00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81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C20C2-6383-4E68-B311-0E345ADF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901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NLS catches free-like nuclear movement.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817F28-88F1-4FD2-ACB3-71D5C380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8B0DA9-1CF5-49A1-85B3-23A034CB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05300"/>
            <a:ext cx="901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H2B catches chromatin-associated slow or confined movement.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13F85B-1A1F-435F-AB14-DEC2FBC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BDFA84-EFAF-49BE-BA91-E4E2FD47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05350"/>
            <a:ext cx="901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MCM2_Bound catches replication/chromatin-associated bound motion.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1DDBD3-4D28-42B8-AB95-4E935D62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81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FB322-DBE1-4EB5-ACC8-FF84991C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05400"/>
            <a:ext cx="901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None of these controls are treated as perfect biological negatives.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BD533B-F5EB-4B68-AFEF-C6F0D271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687E6C-99D3-4957-B8F8-6268BB3F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57877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A7C9E0-BFF9-44BF-B5AE-E8B911B9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CD0A0-5700-4E4D-811B-8BC52CBC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090E5-998D-4554-803E-1FA0436A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DRY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E1DE8-9696-4548-9153-CB5FEB54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Input inventory passed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C6E08-B686-44AA-9F6F-52426C28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9DDBA-1175-4DA1-9E4E-E1E2C0DC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F7E9D-DA83-4388-A188-142EECC6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6D4CE-95F3-48DA-88EB-27909720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H2B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D84D7-EA65-4314-9ACA-470BDF5D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7652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H2B-bound file found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4DD76-4F91-45C5-88FA-1BC26DEE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4787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6250C-A998-4A9C-87A2-BD573281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47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CA9AC-B3DC-456D-BA90-2E17A410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MCM2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DF954-B875-4198-8B46-4EB72F0E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7652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MCM2-bound file found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0759A-33C6-42FC-A40D-08DBB0F8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ECE74-B75D-4AC8-8ED2-FFCA2DF9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37A213-7AEF-43F2-824C-9563A418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BCFAA9-9984-41B0-A598-135F3A6C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7652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old evaluation CSVs found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28BBA3-46F0-4130-94D1-74F9D6ED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47875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B48E7F-8319-409B-BFEE-F884FA4A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47875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4A919A-C14C-4F6A-A772-BDF1265B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38375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1F121D-C95C-4C63-B29E-477FE4D3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76525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TDP43 folders parsed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EE96D-34AB-41C5-A40C-2A3A964C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090430-B500-42C1-9800-E92D9584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9391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H2B-bound and MCM2-bound control files were found unambiguously.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C3821B-3F07-4554-8611-8F06C75E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14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A9AB38-59A0-46C4-939A-5821F5D5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38675"/>
            <a:ext cx="9391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current final_control_guided_track_classification.csv was used for target summaries.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A5F78F-CBC4-4640-B280-3080DFC0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14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D1FEB5-904B-4E20-84FE-4E6B3080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38725"/>
            <a:ext cx="9391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TDP43 folder names were parsed as genotype, date/experiment ID, and treatment.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C1091D-6903-4596-81F7-44FEF949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60B8B1-6097-4A92-BEFC-8BDEF54E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978063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26D965-CA01-4184-AAF7-BD86624E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A8D56-9D6A-40C1-B876-9978E111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C03B6-6DAA-4E9D-BD32-4BFD1412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WHY UPDATE THE DECK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F20D1-D8EE-4416-AE11-4AAC213A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The new diagnostic 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4CAC0-5E69-4289-BB82-34CD1D1A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FBF0D-D046-46EB-920B-9DC602F1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28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472F1-C9B5-4CBC-A9C1-5B0574B7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58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H2B_Bound and MCM2_Bound are both chromatin-associated controls.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80E6B-F18C-4EDE-A8E0-5FCEF1D4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37831-CA50-4300-9C22-3DA8E079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05075"/>
            <a:ext cx="958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Before interpreting targets, we tested whether those controls are truly distinguishable.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C138B-2B2B-4658-98A5-9C917A19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96AD2-E440-4969-9BC5-B74B5BA0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57525"/>
            <a:ext cx="958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If the two controls overlap, target tracks that sit between them should be called ambiguous or control-like, not target-specific.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A37622-63CD-429B-8A98-A48B5DAA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DECC8-5669-41E7-B269-C7F0BDFB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9975"/>
            <a:ext cx="958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This makes the final interpretation stricter and more biologically cautious.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197A60-19A7-47BD-9D8C-5B1CBB40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8F100-DB93-4B16-AEB8-BBD17EF2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349472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8722BD-27BD-43C5-AD9D-A05A09BD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5DDB6-1F12-4AD0-8B0C-61E10595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E6EDD-B7BA-44AA-B8BB-3F4BFB76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BALANCED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1955B-DCBF-40B2-A7F9-1EE220A6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H2B_Bound vs MCM2_Bound: partly separable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7716B-3287-4764-A6D7-6F0C8CF1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C6651-BFB5-4B2E-9E47-9BECCBA5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DE2BF-DA5A-4860-BA0E-B7F2F0B1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B44F4-CBEB-4EE1-A97D-739B890C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0.623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CB310-12D6-4945-8DFF-20B92853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balanced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2F223-8FF6-430A-ADC8-F137F6AB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51F70-6E0C-477B-94D4-6DA04741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A0CAE4-D9C7-420D-8066-86292678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0.902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6ECCF9-A9A8-453F-B3F2-12DEB6EA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E15203-7B6A-4013-89A1-303CEFB2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E49397-B6A2-40B0-88DC-EFD3B2CE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8B565-72ED-4C6E-96A2-7E42F183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0.0196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FA69F-5B45-4D90-9AE9-5F821C9F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292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permutation p-value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789b5e4c74267"/>
          <a:stretch xmlns:a="http://schemas.openxmlformats.org/drawingml/2006/main"/>
        </p:blipFill>
        <p:spPr>
          <a:xfrm xmlns:a="http://schemas.openxmlformats.org/drawingml/2006/main">
            <a:off x="4600575" y="1809750"/>
            <a:ext cx="5467350" cy="39052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47E12-80A8-409A-89F0-96213ECB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924550"/>
            <a:ext cx="7334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Conclusion: separable signal exists, but overlap remains. Keep the controls separate and report ambiguous overlap.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A3BF3E-A0B3-4FB2-A2EE-0289F57C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E88D21-D0E1-4A91-8A5D-207B13B6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0684643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759A08-A9F5-415D-ADAF-4A8696CF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1EAD6-ED1A-4747-B726-2DAA08F3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7CEAE-078A-4D26-B608-EF78FD8F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FEATURE DRIVERS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89A43-324E-4136-8079-B3CE617C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Which features separated the bound controls?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3B0E1-0826-41BB-85E6-77AB73F8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27843cf934036"/>
          <a:stretch xmlns:a="http://schemas.openxmlformats.org/drawingml/2006/main"/>
        </p:blipFill>
        <p:spPr>
          <a:xfrm xmlns:a="http://schemas.openxmlformats.org/drawingml/2006/main">
            <a:off x="666750" y="2119313"/>
            <a:ext cx="4953000" cy="3095625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a17a2875ec40ac"/>
          <a:stretch xmlns:a="http://schemas.openxmlformats.org/drawingml/2006/main"/>
        </p:blipFill>
        <p:spPr>
          <a:xfrm xmlns:a="http://schemas.openxmlformats.org/drawingml/2006/main">
            <a:off x="7321021" y="1809750"/>
            <a:ext cx="2407708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57DBF-8565-4863-961E-50E10069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67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73B22A-C554-4928-8508-C06A7BD1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91200"/>
            <a:ext cx="958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Strong drivers include intensity_mean, Rg, high-percentile step size, mean step size, and path length.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96CBF-FA33-49E9-8B04-117C1197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7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07C02-11D5-4A36-8EBB-2F522BC7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96000"/>
            <a:ext cx="958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These are motion and signal-pattern features, not direct proof of condensate localization.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7A16D3-3B17-4F41-8FC9-6C8A84D2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012F4-D15A-4B80-B57D-5A9E817F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657140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0E6A18-C9BE-46CF-B9E7-49C4AC42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2A777D-0E00-484F-AB80-FE7DF422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AF125-1996-441E-9740-276F1870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BALANCING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3A436-7E01-453E-B430-FD61BA42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The imbalance check matters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8D55A-3A0E-405D-B103-023CBF69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AEB1E3-A4F1-4CF4-A617-DEDCFF84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DE0FE-9158-466F-B088-40068C45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12BE1-1A55-42B5-950D-E052FB4A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28600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2,169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74C22-5F40-4138-B767-29E28685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7241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H2B_Bound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FDD8D-A0F7-49B5-BBD3-E8D11B67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01A66-C43D-45A9-8B5B-A0B8C598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1441A-0F02-4DCD-83FC-F35C176C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8600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178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4EC62-07BD-4F8C-BD1D-DC216AA0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MCM2_Bound tracks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46CE70-44E7-498E-89E7-4649AA1F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9550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0025D-84B5-4D9A-9EAA-DA1132F6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9550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DAB5E5-9E3A-4F89-8063-3B717DE5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8600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0.830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ACFD6E-958D-4133-B06B-3A2A5D22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7241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median balanced accuracy after downsampling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0E8E0-931B-4C94-8D08-E16E673C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0984E5-2CCD-4B97-95F5-71A547B5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95750"/>
            <a:ext cx="910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main answer was not based on the larger H2B class alone.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CB62AE-656D-4B13-9A32-9CB59867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48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3F93BA-FB7C-4FAB-B0ED-6084712E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0"/>
            <a:ext cx="910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Repeated downsampling matched H2B_Bound to MCM2_Bound track count.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95208D-5C8E-4B2A-BF72-D1E694E0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DF4DF-7850-4C8D-8345-83325E15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10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Separation survived balancing, so the controls should not be blindly merged.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74F557-9101-499C-B01B-3E4663BB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F0874E-A7CA-456C-9157-181A11C8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593792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877009-6D87-4461-89EC-773CFD6F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E8BD0-31DE-49F9-9BF3-137FA162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83BEA-A1B9-4E3F-93AB-E855E24E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TARGET PROJECTION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6F0D5-1B0F-466F-BD42-A54F73F3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Where TDP43 and NONO fall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7820A-4A96-4D53-BC97-6AD5E412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9e71e47ed64ccc"/>
          <a:stretch xmlns:a="http://schemas.openxmlformats.org/drawingml/2006/main"/>
        </p:blipFill>
        <p:spPr>
          <a:xfrm xmlns:a="http://schemas.openxmlformats.org/drawingml/2006/main">
            <a:off x="685800" y="2230934"/>
            <a:ext cx="5191125" cy="2920008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4ac3aa366485d"/>
          <a:stretch xmlns:a="http://schemas.openxmlformats.org/drawingml/2006/main"/>
        </p:blipFill>
        <p:spPr>
          <a:xfrm xmlns:a="http://schemas.openxmlformats.org/drawingml/2006/main">
            <a:off x="6381750" y="2405063"/>
            <a:ext cx="4572000" cy="2571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717EC-3527-4B4B-A5E9-E9E16CE9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57875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Both proteins sit close to the boundary between H2B_Bound-like and MCM2_Bound-like behavior, with a small MCM2_Bound-like tilt.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7C2B1-850B-4FB1-85DF-9281C5B0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40099-D2D4-4C36-9BFF-073917CF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949293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5D12F7-F11D-4B4F-BD01-8E37266A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1F872-646B-44E4-A26C-DBF45AA0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AA244-B48A-440E-B9E2-61D5D0B2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OLD VS NEW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74110-C9DB-4A49-B585-B0553A30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Old trapping-like is broader than the new strict label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C3DB9-8001-4A2E-AD88-7D49E3B2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cf42a099344377"/>
          <a:stretch xmlns:a="http://schemas.openxmlformats.org/drawingml/2006/main"/>
        </p:blipFill>
        <p:spPr>
          <a:xfrm xmlns:a="http://schemas.openxmlformats.org/drawingml/2006/main">
            <a:off x="857250" y="2286000"/>
            <a:ext cx="5715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B1DDD-04A0-4A9A-8CA8-37F68CAD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A4C3C-E543-4189-A78B-9B2CF622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95500"/>
            <a:ext cx="3771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Old condensate_evaluation labels were compared with the new control-guided classes where joining was possible.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F40DF-8CE8-4C0A-A9EF-B5FA09C8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19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A1F0A-35CE-4E10-8203-2BA1A8DA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43200"/>
            <a:ext cx="3771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new target-specific class asks whether a target track differs from NLS, H2B-bound, and MCM2-bound controls.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69FD8-89D7-49A1-B8F4-A43D86F8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151E75-B3B3-43DA-B27E-2BA79366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90900"/>
            <a:ext cx="3771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So an old trapping-like call can become free-like, chromatin-bound-like, MCM-bound-like, or ambiguous.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A76B7-72F2-4729-8C60-9E1B8672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A82A8-619C-47A8-B71A-4B12C784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810711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5CA078-7E00-4AEF-9D6D-029327BA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5771EC-5265-487B-83FD-9D82847D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503AF-0E17-4027-B9E1-E72D9397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GATE FAILURES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A64D0A-4620-45CC-9221-A5B89479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Why no target-specific trapping-like calls?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96EB8-8B39-4FAF-AC04-C78892F0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4C717-03E9-4E8B-ACA5-44BC1484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Temporal support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3B184-8CF0-4203-8620-16818C02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4787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77133-5941-4E5C-AE57-B6BFE7C0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4787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4C113-B835-4210-B3BD-31083E77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100.0%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AF368-DA86-4A10-996C-0354A90E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Control outlier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B0509-172E-4EBD-B7C5-9D278301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ED207-9DC0-4528-BF14-C5DB268E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2525649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86922-A9C1-4877-A1F6-246EB392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003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94.7%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B9B79B-845C-46ED-B4F6-A9DB9C3A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Not H2B-like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2F91A-4580-4D1E-BFE2-5FF0178E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4797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0FCF0-19ED-4B86-8879-C1EF9AC3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47975"/>
            <a:ext cx="2112264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58A5C7-9EC4-45C1-BC7C-27976636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79.2%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1E810C-4AA7-406E-9BA6-0CC6301E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Diffusive burst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6F93A-78A5-4611-9477-2FCA7F07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4802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FBEEC-0F67-4991-89F2-AEAFF6AC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48025"/>
            <a:ext cx="445389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2940A0-61F5-4086-92D1-46856D20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004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16.7%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5DADF-FF8A-4BB1-A8A5-A2908EF0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Not free-like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BAD3CC-198F-428D-9541-AC2B630E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4807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FC88A4-3703-4A80-9098-A1572308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48075"/>
            <a:ext cx="272034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451483-33E8-4E6A-8AF3-FAB38BCB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0045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10.2%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8A369-69DB-4095-B631-9D85DEA6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Not MCM2-like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D38CBB-2F9B-4785-A2ED-DC7E077B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48125"/>
            <a:ext cx="2667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A5D2BA-D85E-4694-8918-66300404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48125"/>
            <a:ext cx="69342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ADCFB9-177F-4BB8-9CC9-44B563B5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005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2.6%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efa5557ca64142"/>
          <a:stretch xmlns:a="http://schemas.openxmlformats.org/drawingml/2006/main"/>
        </p:blipFill>
        <p:spPr>
          <a:xfrm xmlns:a="http://schemas.openxmlformats.org/drawingml/2006/main">
            <a:off x="6334125" y="2208609"/>
            <a:ext cx="4762500" cy="2678906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3A7F53-9514-4794-86DA-504BDF43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29300"/>
            <a:ext cx="981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The strict class stayed at zero mainly because temporal support and control-distinctness gates failed.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4C35DD-41C0-48B2-916F-CB9CA93E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9043CF-6B72-43CD-B978-BAB80024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126920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341C01-3CF5-4D9B-8E1D-6D4526AF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B229A-9978-4694-AE3F-42E8B971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BDE9E-2070-45DD-B4C8-BA297A40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REVIEW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57A4C-BBE9-4641-91D3-FE1328E7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Ambiguous tracks are the best manual-review pool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2EDA1-355B-4642-9067-DAA48BE3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51BE81-028E-4A40-B22A-09AB4F2B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3FDF4-C726-4E73-AAD4-309F7A32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48151-FC38-4CE9-BD6A-AD40E31C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1,214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6B113-BA37-4484-992F-A7239B6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194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 target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5B3AB-4936-4BF4-90AC-3B4E654C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90750"/>
            <a:ext cx="226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66F03-E5D8-413B-9354-E5FD86D5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907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12411-8450-43D6-B131-B49E151C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81250"/>
            <a:ext cx="1866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Top 100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D53ED-57E4-4848-82A8-41E554C9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194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ranked by review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343AB-A661-4E67-950D-BA884EEB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9DE8F9-09E1-4153-9627-C048CFB5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929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Ambiguous means not confidently control-like, but also not strict target-specific.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621D61-BFA0-4D5D-ACC1-378DF603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48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B50765-41EC-4115-9E5A-08BD4E20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72000"/>
            <a:ext cx="929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ranked table prioritizes trapping score, temporal score, control-outlier score, dwell features, and track length.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3DEA25-EDE6-4953-B941-43CE2925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124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BDE5B-FE78-44D4-9A64-4C1D503D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048250"/>
            <a:ext cx="929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These are candidate trapping-like behavior records for inspection, not validated condensate-localized tracks.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795905-5D4D-4CCA-8598-3E2ADAD7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74C660-3887-4065-8D7D-F8683B52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0044775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53B76-4B17-4880-AE38-23BE84B2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0086A-989A-4B88-A09A-3795A318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D86AD-3785-4656-9A29-7F483008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GENOTYPE AND TREATMENT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563ED-882B-444D-8640-A87B6D5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Expanded TDP43 condition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E19F3-3D2D-466A-BD67-EBF51FFD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cc941cc854db0"/>
          <a:stretch xmlns:a="http://schemas.openxmlformats.org/drawingml/2006/main"/>
        </p:blipFill>
        <p:spPr>
          <a:xfrm xmlns:a="http://schemas.openxmlformats.org/drawingml/2006/main">
            <a:off x="666750" y="2286000"/>
            <a:ext cx="4953000" cy="247650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9cec3d36b43b1"/>
          <a:stretch xmlns:a="http://schemas.openxmlformats.org/drawingml/2006/main"/>
        </p:blipFill>
        <p:spPr>
          <a:xfrm xmlns:a="http://schemas.openxmlformats.org/drawingml/2006/main">
            <a:off x="6048375" y="2286000"/>
            <a:ext cx="4953000" cy="2476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C5895-5B1B-4D27-B4B9-559E5A52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956F6-06D0-4C1D-B2EC-A327A24D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15000"/>
            <a:ext cx="9677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Folders were parsed into WT or 12D genotype, experiment/date ID, and CT/ARS/ACTD treatment.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5170F-1842-4438-8DB5-62FD721C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1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D4537-D572-465A-AD12-BAE4B310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38850"/>
            <a:ext cx="9677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Current final classification rows support cautious WT control summaries; expanded folders need complete rerun outputs before strong condition claims.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B7B9B-339F-44F5-8FB4-0444F121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A87B51-CD5C-4CF9-8D7A-E0E75EAF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0999868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60C9D8-3E37-432F-8F98-D0FA4933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752A4-EF21-42E8-9649-BA685C7A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40B09-4562-49C4-8AE8-D435006A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SAFE 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EBF6D-7C6A-4A2D-9CCB-9E64D7E3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Interpretation and next 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597A1-86E1-47BF-B376-23F640BD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27D34-3C93-4ACE-8EA8-E39A8CE0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33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806A5-3EDA-4C19-9577-A55B7D7E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857375"/>
            <a:ext cx="967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supported conclusion is about motion pattern, not direct condensate or paraspeckle localization.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6C011E-8311-4F0D-A4AE-9436E98B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6F08B-1B50-46C7-8CC7-18D2D17B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314575"/>
            <a:ext cx="967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H2B_Bound and MCM2_Bound are partly distinct controls and should remain separate for now.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81BF9-3006-472A-83C2-828B958B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47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94C7D-7638-44B8-869F-7CB0592A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771775"/>
            <a:ext cx="967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Inspect high-priority ambiguous tracks against movies, localization quality, and condensate or paraspeckle markers.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C5F16-B868-4F88-BBCE-1A8B1B54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05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41996-8608-4797-A764-3B540B32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228975"/>
            <a:ext cx="967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Review temporal-support gates before the next analysis batch.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67C40-DFAA-418F-864F-23C92CCF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A6F99F-A5DA-4299-8D03-F7453411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686175"/>
            <a:ext cx="967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Main outputs live in control_guided_classification/diagnostics_and_separability.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ADA7DE-B6A7-478F-8CB6-5EAEA273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293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Use wording: target-specific trapping-like dynamics, control-guided trapping-like classification, candidate trapping-like behavior.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65AA9C-9E6C-458E-9EC2-6958745D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detection, updated with diagnostics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A176B-D787-48F5-A52F-9C910C47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290389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2026-05-27T20:00:16.7160000Z</dcterms:created>
  <dcterms:modified xsi:type="dcterms:W3CDTF">2026-05-27T20:00:16.7160000Z</dcterms:modified>
</coreProperties>
</file>