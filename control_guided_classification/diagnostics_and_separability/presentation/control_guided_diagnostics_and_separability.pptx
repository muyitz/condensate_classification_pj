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ffa374207847f6" /><Relationship Type="http://schemas.openxmlformats.org/officeDocument/2006/relationships/extended-properties" Target="/docProps/app.xml" Id="R3c0407a440d447e7" /><Relationship Type="http://schemas.openxmlformats.org/officeDocument/2006/relationships/officeDocument" Target="/ppt/presentation.xml" Id="R6dabe0e831064c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df93fa7feb42a0"/>
  </p:sldMasterIdLst>
  <p:notesMasterIdLst>
    <p:notesMasterId xmlns:r="http://schemas.openxmlformats.org/officeDocument/2006/relationships" r:id="R563196eeb1e4421c"/>
  </p:notesMasterIdLst>
  <p:sldIdLst>
    <p:sldId xmlns:r="http://schemas.openxmlformats.org/officeDocument/2006/relationships" id="256" r:id="R1ef04c04d8424873"/>
    <p:sldId xmlns:r="http://schemas.openxmlformats.org/officeDocument/2006/relationships" id="257" r:id="R2cf3044bfc784625"/>
    <p:sldId xmlns:r="http://schemas.openxmlformats.org/officeDocument/2006/relationships" id="258" r:id="Ra585a07e32e64d32"/>
    <p:sldId xmlns:r="http://schemas.openxmlformats.org/officeDocument/2006/relationships" id="259" r:id="Re7694058f4a44381"/>
    <p:sldId xmlns:r="http://schemas.openxmlformats.org/officeDocument/2006/relationships" id="260" r:id="R67a54b1a12cc496f"/>
    <p:sldId xmlns:r="http://schemas.openxmlformats.org/officeDocument/2006/relationships" id="261" r:id="R6fb2c223de074e61"/>
    <p:sldId xmlns:r="http://schemas.openxmlformats.org/officeDocument/2006/relationships" id="262" r:id="R8f5af953d075432f"/>
    <p:sldId xmlns:r="http://schemas.openxmlformats.org/officeDocument/2006/relationships" id="263" r:id="R6462a9e2c2dc42ac"/>
    <p:sldId xmlns:r="http://schemas.openxmlformats.org/officeDocument/2006/relationships" id="264" r:id="R1e4117f1f2f44812"/>
    <p:sldId xmlns:r="http://schemas.openxmlformats.org/officeDocument/2006/relationships" id="265" r:id="Ra0cb1b374a9f49e7"/>
    <p:sldId xmlns:r="http://schemas.openxmlformats.org/officeDocument/2006/relationships" id="266" r:id="Rec5f03033f4041e7"/>
    <p:sldId xmlns:r="http://schemas.openxmlformats.org/officeDocument/2006/relationships" id="267" r:id="R0276a188a1874baf"/>
    <p:sldId xmlns:r="http://schemas.openxmlformats.org/officeDocument/2006/relationships" id="268" r:id="R6476de132ced489d"/>
    <p:sldId xmlns:r="http://schemas.openxmlformats.org/officeDocument/2006/relationships" id="269" r:id="R722b3792124043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df93fa7feb42a0" /><Relationship Type="http://schemas.openxmlformats.org/officeDocument/2006/relationships/theme" Target="/ppt/theme/theme1.xml" Id="R51a68dcf41db4404" /><Relationship Type="http://schemas.openxmlformats.org/officeDocument/2006/relationships/notesMaster" Target="/ppt/notesMasters/notesMaster1.xml" Id="R563196eeb1e4421c" /><Relationship Type="http://schemas.openxmlformats.org/officeDocument/2006/relationships/presProps" Target="/ppt/presProps.xml" Id="Ra5c1724c678f46ab" /><Relationship Type="http://schemas.openxmlformats.org/officeDocument/2006/relationships/viewProps" Target="/ppt/viewProps.xml" Id="Rdb54c4d8ec4a4b52" /><Relationship Type="http://schemas.openxmlformats.org/officeDocument/2006/relationships/tableStyles" Target="/ppt/tableStyles.xml" Id="R48f6bc8d337e4354" /><Relationship Type="http://schemas.openxmlformats.org/officeDocument/2006/relationships/slide" Target="/ppt/slides/slide1.xml" Id="R1ef04c04d8424873" /><Relationship Type="http://schemas.openxmlformats.org/officeDocument/2006/relationships/slide" Target="/ppt/slides/slide2.xml" Id="R2cf3044bfc784625" /><Relationship Type="http://schemas.openxmlformats.org/officeDocument/2006/relationships/slide" Target="/ppt/slides/slide3.xml" Id="Ra585a07e32e64d32" /><Relationship Type="http://schemas.openxmlformats.org/officeDocument/2006/relationships/slide" Target="/ppt/slides/slide4.xml" Id="Re7694058f4a44381" /><Relationship Type="http://schemas.openxmlformats.org/officeDocument/2006/relationships/slide" Target="/ppt/slides/slide5.xml" Id="R67a54b1a12cc496f" /><Relationship Type="http://schemas.openxmlformats.org/officeDocument/2006/relationships/slide" Target="/ppt/slides/slide6.xml" Id="R6fb2c223de074e61" /><Relationship Type="http://schemas.openxmlformats.org/officeDocument/2006/relationships/slide" Target="/ppt/slides/slide7.xml" Id="R8f5af953d075432f" /><Relationship Type="http://schemas.openxmlformats.org/officeDocument/2006/relationships/slide" Target="/ppt/slides/slide8.xml" Id="R6462a9e2c2dc42ac" /><Relationship Type="http://schemas.openxmlformats.org/officeDocument/2006/relationships/slide" Target="/ppt/slides/slide9.xml" Id="R1e4117f1f2f44812" /><Relationship Type="http://schemas.openxmlformats.org/officeDocument/2006/relationships/slide" Target="/ppt/slides/slide10.xml" Id="Ra0cb1b374a9f49e7" /><Relationship Type="http://schemas.openxmlformats.org/officeDocument/2006/relationships/slide" Target="/ppt/slides/slide11.xml" Id="Rec5f03033f4041e7" /><Relationship Type="http://schemas.openxmlformats.org/officeDocument/2006/relationships/slide" Target="/ppt/slides/slide12.xml" Id="R0276a188a1874baf" /><Relationship Type="http://schemas.openxmlformats.org/officeDocument/2006/relationships/slide" Target="/ppt/slides/slide13.xml" Id="R6476de132ced489d" /><Relationship Type="http://schemas.openxmlformats.org/officeDocument/2006/relationships/slide" Target="/ppt/slides/slide14.xml" Id="R722b3792124043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46dcdc36e2646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c88855d3ca4fa3" /><Relationship Type="http://schemas.openxmlformats.org/officeDocument/2006/relationships/notesMaster" Target="/ppt/notesMasters/notesMaster1.xml" Id="R0e1b20beff1644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b545a0211a4d81" /><Relationship Type="http://schemas.openxmlformats.org/officeDocument/2006/relationships/notesMaster" Target="/ppt/notesMasters/notesMaster1.xml" Id="Rf0f439047cac4d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55302546fd4bde" /><Relationship Type="http://schemas.openxmlformats.org/officeDocument/2006/relationships/notesMaster" Target="/ppt/notesMasters/notesMaster1.xml" Id="R8f7340b3c7e545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0df955f3d64611" /><Relationship Type="http://schemas.openxmlformats.org/officeDocument/2006/relationships/notesMaster" Target="/ppt/notesMasters/notesMaster1.xml" Id="R6fa277061d4a49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73aadbbf854230" /><Relationship Type="http://schemas.openxmlformats.org/officeDocument/2006/relationships/notesMaster" Target="/ppt/notesMasters/notesMaster1.xml" Id="R38063a72ae2142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a80a2f51d34405" /><Relationship Type="http://schemas.openxmlformats.org/officeDocument/2006/relationships/notesMaster" Target="/ppt/notesMasters/notesMaster1.xml" Id="R4e5cd0231ed248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0fe614c9344627" /><Relationship Type="http://schemas.openxmlformats.org/officeDocument/2006/relationships/notesMaster" Target="/ppt/notesMasters/notesMaster1.xml" Id="R82f1f59bc45c42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71fc6555924b5f" /><Relationship Type="http://schemas.openxmlformats.org/officeDocument/2006/relationships/notesMaster" Target="/ppt/notesMasters/notesMaster1.xml" Id="Rd590e372bca74b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bce50962364355" /><Relationship Type="http://schemas.openxmlformats.org/officeDocument/2006/relationships/notesMaster" Target="/ppt/notesMasters/notesMaster1.xml" Id="R035113c1965a43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49b455d9874cbd" /><Relationship Type="http://schemas.openxmlformats.org/officeDocument/2006/relationships/notesMaster" Target="/ppt/notesMasters/notesMaster1.xml" Id="Rfa2403d7da734c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948cb9779a4a81" /><Relationship Type="http://schemas.openxmlformats.org/officeDocument/2006/relationships/notesMaster" Target="/ppt/notesMasters/notesMaster1.xml" Id="R04cbb18bcea042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296ce0a3f247e1" /><Relationship Type="http://schemas.openxmlformats.org/officeDocument/2006/relationships/notesMaster" Target="/ppt/notesMasters/notesMaster1.xml" Id="R59fe6640325d45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2fe1a0b2154b2b" /><Relationship Type="http://schemas.openxmlformats.org/officeDocument/2006/relationships/notesMaster" Target="/ppt/notesMasters/notesMaster1.xml" Id="R41071433a41947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752f03026794b02" /><Relationship Type="http://schemas.openxmlformats.org/officeDocument/2006/relationships/notesMaster" Target="/ppt/notesMasters/notesMaster1.xml" Id="R24a61bed4a6c46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da3ec375f1472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6bd2a35bc854907" /><Relationship Type="http://schemas.openxmlformats.org/officeDocument/2006/relationships/slideLayout" Target="/ppt/slideLayouts/slideLayout2.xml" Id="Rcae83468412542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e83468412542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cafe96617e440a" /><Relationship Type="http://schemas.openxmlformats.org/officeDocument/2006/relationships/notesSlide" Target="/ppt/notesSlides/notesSlide1.xml" Id="Ref479a59f3a64b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bc6d06aac34e65" /><Relationship Type="http://schemas.openxmlformats.org/officeDocument/2006/relationships/notesSlide" Target="/ppt/notesSlides/notesSlide2.xml" Id="R3ec28056614947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909fc7cd50412b" /><Relationship Type="http://schemas.openxmlformats.org/officeDocument/2006/relationships/notesSlide" Target="/ppt/notesSlides/notesSlide3.xml" Id="R6e448cac682b47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c08de8113d4016" /><Relationship Type="http://schemas.openxmlformats.org/officeDocument/2006/relationships/image" Target="/ppt/media/image.png" Id="Rebe162e3307a4b42" /><Relationship Type="http://schemas.openxmlformats.org/officeDocument/2006/relationships/notesSlide" Target="/ppt/notesSlides/notesSlide4.xml" Id="Rfbaa5a2131bb45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18dad49f924c44" /><Relationship Type="http://schemas.openxmlformats.org/officeDocument/2006/relationships/image" Target="/ppt/media/image2.png" Id="R2eb1d979a0604c42" /><Relationship Type="http://schemas.openxmlformats.org/officeDocument/2006/relationships/image" Target="/ppt/media/image3.png" Id="R055e421f489e4e8d" /><Relationship Type="http://schemas.openxmlformats.org/officeDocument/2006/relationships/notesSlide" Target="/ppt/notesSlides/notesSlide5.xml" Id="R5df47a1a67e142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35f9c7949947e5" /><Relationship Type="http://schemas.openxmlformats.org/officeDocument/2006/relationships/notesSlide" Target="/ppt/notesSlides/notesSlide6.xml" Id="R5a9fa572a4c54e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43d071889c46d5" /><Relationship Type="http://schemas.openxmlformats.org/officeDocument/2006/relationships/image" Target="/ppt/media/image4.png" Id="R69a987f21310487f" /><Relationship Type="http://schemas.openxmlformats.org/officeDocument/2006/relationships/image" Target="/ppt/media/image5.png" Id="Ref2a93ac58764b9f" /><Relationship Type="http://schemas.openxmlformats.org/officeDocument/2006/relationships/notesSlide" Target="/ppt/notesSlides/notesSlide7.xml" Id="R681df246af0141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e20ac888c14e66" /><Relationship Type="http://schemas.openxmlformats.org/officeDocument/2006/relationships/image" Target="/ppt/media/image6.png" Id="R32fd14a67d284a31" /><Relationship Type="http://schemas.openxmlformats.org/officeDocument/2006/relationships/notesSlide" Target="/ppt/notesSlides/notesSlide8.xml" Id="R5f648238fe1a4d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2af7e251cf4d81" /><Relationship Type="http://schemas.openxmlformats.org/officeDocument/2006/relationships/image" Target="/ppt/media/image7.png" Id="Rcbf8bdee53ac4484" /><Relationship Type="http://schemas.openxmlformats.org/officeDocument/2006/relationships/notesSlide" Target="/ppt/notesSlides/notesSlide9.xml" Id="R70338330ef0443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3cad94fa6b4390" /><Relationship Type="http://schemas.openxmlformats.org/officeDocument/2006/relationships/notesSlide" Target="/ppt/notesSlides/notesSlide10.xml" Id="Rabd860fcd22541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08450153e346d1" /><Relationship Type="http://schemas.openxmlformats.org/officeDocument/2006/relationships/image" Target="/ppt/media/image8.png" Id="R58413ba9b7064313" /><Relationship Type="http://schemas.openxmlformats.org/officeDocument/2006/relationships/image" Target="/ppt/media/image9.png" Id="R2e800a03398f4ae7" /><Relationship Type="http://schemas.openxmlformats.org/officeDocument/2006/relationships/notesSlide" Target="/ppt/notesSlides/notesSlide11.xml" Id="Ra4b4b45ff33348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ec4e4925b54f6d" /><Relationship Type="http://schemas.openxmlformats.org/officeDocument/2006/relationships/notesSlide" Target="/ppt/notesSlides/notesSlide12.xml" Id="Rc1827ff21f8b49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100aedcb9d4d0a" /><Relationship Type="http://schemas.openxmlformats.org/officeDocument/2006/relationships/notesSlide" Target="/ppt/notesSlides/notesSlide13.xml" Id="R955ffb3d26724c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51e64241b047a4" /><Relationship Type="http://schemas.openxmlformats.org/officeDocument/2006/relationships/notesSlide" Target="/ppt/notesSlides/notesSlide14.xml" Id="Rfba60237a2a543b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8F5460-3E18-4CEF-B6D8-20DE8689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F3E36-DEF8-49A5-8DDA-DEBF4AF3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FEDB9-D445-4EF7-AB87-8ACA84D1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914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Control-guided condensate classification diagnostics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14614-7B7D-4CBB-9D73-C2432A09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H2B-bound vs MCM2-bound separability and target-track interpretation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17817-513A-4D05-B4C0-371C5C77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2400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4F444-5450-4C1A-8BBD-39378FBE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196E4-1715-4CC7-BF1F-6A436DC4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2,169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92383-960D-4473-8259-269B59AD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H2B_Bound tracks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0C7CD-B2C2-4C12-AF99-0C3F4D2A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57600"/>
            <a:ext cx="2400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1E75B-55B1-46BB-858B-A5819962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576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C6701-4CC1-4280-95D3-CA897292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6715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178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6DA6ED-4A59-4AD2-91AB-64C716D6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05300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MCM2_Bound tracks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75CAE-79C2-4AE0-ADDA-52B54DE9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57600"/>
            <a:ext cx="2400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14AE0-FD5D-440B-B495-8509C2A1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576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6C0E24-4BBB-4E54-879E-7A29E6A7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6715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9,930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28DEF-6B3D-4C94-8378-9CF20D6F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05300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TDP43/NONO target tracks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1B4C38-10BD-413D-A311-C57625BF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981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Cautious readout: motion patterns consistent with confinement/trapping, not definitive condensate localization.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E0B8C5-4605-457F-AF9A-C075BB92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Control-guided diagnostics and separability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6FBB08-913B-4690-A84D-0A40FE4D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292721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F3CF1C-487E-4314-A132-6B8BCCA8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FD3F7-43C0-4EEA-AAEA-76302A69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9C423-AA48-437C-A822-32622E3B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FRAMING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71718-169D-4315-852E-14E00F9A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62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Why this diagnostic was needed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DBDAF-4BC9-41E5-A815-962C04DE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FC75E-4762-47B4-8C7D-D9A8903F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6DEA4-9A60-4D66-8405-47CBA1A3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47875"/>
            <a:ext cx="9391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H2B-bound and MCM2-bound are both chromatin-associated controls, but they may not represent the same motion pattern.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64121-0200-4463-981C-9632D7F8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47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E501B-9D7A-4102-A2DC-3782428A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71775"/>
            <a:ext cx="9391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The target question is whether TDP43/NONO tracks differ from free-like nuclear motion and both bound-control patterns.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0957A-3E74-4F1E-8721-819A0EFF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65047-B7C7-4DBD-A5C0-BBC94D6B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95675"/>
            <a:ext cx="9391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The stricter label is target-specific trapping-like dynamics; tracking alone does not prove physical condensates or paraspeckles.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5E314-C2E0-45BC-8889-9EBA2DF5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Control-guided diagnostics and separability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F23EA-AEE7-4A39-9625-36F51AD6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929902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48462B-EC78-45B5-981E-B176B583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46D69-17C4-401B-8F33-BC20AE2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08F53-7D3F-43C1-839C-219B4E86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EBDB6-8C27-4A5C-B85C-C7C315C1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62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Data inventory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95794-5311-4C6B-84B2-23873222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57B48-6826-410B-A310-7C6D49B4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00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702FC-6204-48C3-832F-8BB67A25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83AD9-1708-4F7F-9DD2-57032148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57425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2,169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E0383-1242-4E0C-BF11-952AD0CA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95575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H2B_Bound tracks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57EA0-7F2D-45C9-947A-06B8C7A6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47875"/>
            <a:ext cx="2400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8C940-09A2-4C47-9C22-6CC79007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47875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077CE-8CA1-4353-9A1C-3608C098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57425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178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05CCE-6C0A-4A92-9FED-74AB88F8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95575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MCM2_Bound tracks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1A63E-DBAB-44F1-9CB5-A4657A37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2400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9E8709-FA9F-4294-A5A8-A7812C7F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3BD60-7499-40AE-B412-5CDF9088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57425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9,930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696E3-DC84-4FB5-ABF2-67A32A0B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95575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TDP43/NONO tracks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8DDF05-585F-4D1F-BF14-D2C5F627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47875"/>
            <a:ext cx="2400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6E975-D4EC-43F8-9C49-8F6FAFC5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47875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E69A0F-85D2-40F5-B5B3-2339841C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57425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1E7CEE-84DC-4246-973C-27F0FE6C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95575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TDP43 folders parsed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D104A9-CC02-4A63-A4A7-11331505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Files used: single-behaviour-track-H2b-bound.csv, single-behaviour-track-MCM2-bound.csv, final_control_guided_track_classification.csv, and 48 old condensate_evaluation CSVs.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976C75-54AD-4B95-86C3-27B4B44E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952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TDP43 folder names were parsed as genotype-date-treatment, with unknown fields kept rather than crashing.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581708-FB01-4E4D-B06F-158C569C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Control-guided diagnostics and separability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031F14-26EA-4EF2-B0AE-20DDC729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040623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CE0181-75E4-4929-B340-0925BCDC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956C9-BEBD-476F-813E-6C5CC1FD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C4C62-A478-4EA9-B65B-94382494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BOUND-CONTROL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2741A-3E8C-46ED-A49C-9CB54402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62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H2B_Bound vs MCM2_Bound: partly separable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09ED5-9CA0-4D9B-B676-843D7318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6E041-F777-440F-9B90-6EE59BB5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2400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00225-6A1C-4694-8051-4B9C9AA3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1651F-8B90-4BEE-B228-56C8FCF0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0.623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5597B-514E-40F8-9B4B-750DD082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balanced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A11C3-8ABA-4FA1-BB8F-4B4BE594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00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D84CF-E5CC-4D79-AF8A-E2432280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06143-6394-4BA2-A387-B0B208FC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0.902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C1324-C6A0-474F-AE0A-3C619DC7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ROC-AUC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BE25F-7FC5-4D7F-984A-36E8BFF9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400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A2ADC-B8A8-439C-A080-E35B09D3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C1995-CA78-478F-A86A-35DA31E0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0.665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C5309A-7DA6-4894-8D11-040DCF77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162e3307a4b42"/>
          <a:stretch xmlns:a="http://schemas.openxmlformats.org/drawingml/2006/main"/>
        </p:blipFill>
        <p:spPr>
          <a:xfrm xmlns:a="http://schemas.openxmlformats.org/drawingml/2006/main">
            <a:off x="4648200" y="1809750"/>
            <a:ext cx="5467350" cy="39052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C70B06-4BB0-4DB6-8148-8A1A21F6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905500"/>
            <a:ext cx="733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Interpretation: the controls carry separable signal, but overlap remains substantial. Treat them as related-but-not-identical reference states.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961CF4-AEEC-4016-AC9C-E6CCDD67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Control-guided diagnostics and separability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7E44B2-C7B3-447B-9F26-C96129CA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153307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D5B2F0-AE3C-451E-AF86-FC937B70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19979-59F4-4F82-91D7-B2C6791B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30C08-A130-4521-9C6D-D75117E4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DRIVERS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729FA-FAFC-42E0-8760-6F94C3A0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62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Features separating H2B_Bound and MCM2_Bound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488C3-2DDD-4D0E-AE73-74272536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1d979a0604c42"/>
          <a:stretch xmlns:a="http://schemas.openxmlformats.org/drawingml/2006/main"/>
        </p:blipFill>
        <p:spPr>
          <a:xfrm xmlns:a="http://schemas.openxmlformats.org/drawingml/2006/main">
            <a:off x="628650" y="2113359"/>
            <a:ext cx="5429250" cy="3393281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e421f489e4e8d"/>
          <a:stretch xmlns:a="http://schemas.openxmlformats.org/drawingml/2006/main"/>
        </p:blipFill>
        <p:spPr>
          <a:xfrm xmlns:a="http://schemas.openxmlformats.org/drawingml/2006/main">
            <a:off x="7418917" y="1809750"/>
            <a:ext cx="2592917" cy="4000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DCFB6-48B4-4E2C-9CD3-78CC46C7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E215A-066F-4E39-9F15-DAABC4AB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81700"/>
            <a:ext cx="10058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Top drivers included median step size, intensity variability, track duration, spatial spread, and mean intensity.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C803D-0A20-407E-8547-35A279B1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7F691-91CF-439B-A76E-6C7590E1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267450"/>
            <a:ext cx="10058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Biological read: the classifier is detecting motion and signal-pattern differences, not direct localization.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71730-6B60-418C-9D9E-4118290C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Control-guided diagnostics and separability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4AE36-D5EA-491B-B403-021B2BDA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541630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480889-36B0-4E39-80D5-FDB982D6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75C9F-A335-4DB1-9D64-5542A128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BC6BF-E5A5-49D5-A698-223CBF40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CLASS IMBALANCE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ED1D0-C9C3-4B9B-B831-9CA91974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62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Separation remains after balancing, but is not clean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B3803-83FB-4090-AF6B-5E9AE943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6D52B-CB80-4EB4-A551-384D1630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400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5DF95-9415-4F61-AE72-D6D55B05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6CF8B-1567-41FE-81D2-D472BA75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030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178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C0C54-65A4-42A9-871F-F75AA21F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38450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minority-class tracks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BBE58-AB5D-4685-A162-4F8D9A30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2400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83480-246F-46C6-8F9F-28256D23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545DD-0B7D-4E17-8D2B-7CD66E99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0030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30x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33F4B-3A1B-45AD-A9A6-75E100CE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38450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repeated downsampling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69AF37-6068-46A0-AD47-6A83ACAD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2400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034E6-159F-43DF-BFEB-E2A47BA0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2E4422-DF61-49F9-BC15-1D6ADF1C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0030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50x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3B703-3A84-4F09-A92A-A47EEE2C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38450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label permutations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222F3C-07AF-4A45-9328-B795C92D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36DBD-0665-43F3-ABD1-1568ECE9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95750"/>
            <a:ext cx="9201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The main conclusion is based on balanced/repeated-downsampled models rather than the much larger H2B count.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9EAD1F-F0E3-4954-BB39-14962D29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DDFC69-4FE7-4E8B-A6CB-03CED587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52950"/>
            <a:ext cx="9201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Above-chance ROC-AUC supports real separation; modest balanced accuracy shows many tracks remain control-overlap cases.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4AA326-B0CE-4CA1-8C30-C3F9F0A4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86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6B60DB-0C6D-450B-B78E-ABEE3B09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10150"/>
            <a:ext cx="9201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Practical implication: keeping H2B_Bound and MCM2_Bound separate is justified, while reporting ambiguous overlap is essential.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35F31D-29D9-4709-BAF1-2EBD963A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Control-guided diagnostics and separability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0C4826-EC82-474F-B4B4-30B58CD0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730242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B14B2B-BCF4-4F24-9B12-4F96BC18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922CC-9AED-4469-AAC4-4E9A5503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4DE79-587C-4478-BB89-3FC351A0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TARGET PROJECTION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1C685-D98F-4834-ACD8-604CEF15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62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Where TDP43 and NONO fall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9B414-E951-408B-ACF0-1EA9E25B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987f21310487f"/>
          <a:stretch xmlns:a="http://schemas.openxmlformats.org/drawingml/2006/main"/>
        </p:blipFill>
        <p:spPr>
          <a:xfrm xmlns:a="http://schemas.openxmlformats.org/drawingml/2006/main">
            <a:off x="685800" y="2230934"/>
            <a:ext cx="5191125" cy="2920008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a93ac58764b9f"/>
          <a:stretch xmlns:a="http://schemas.openxmlformats.org/drawingml/2006/main"/>
        </p:blipFill>
        <p:spPr>
          <a:xfrm xmlns:a="http://schemas.openxmlformats.org/drawingml/2006/main">
            <a:off x="6381750" y="2405063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039CC-F975-4C5E-B85D-FCD765F9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57875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Protein-level averages sit nearly halfway between H2B_Bound and MCM2_Bound, with a small tilt toward MCM2_Bound-like probability.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2C3B5-E7B4-4A27-A00B-7B904F02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Control-guided diagnostics and separability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950CE-067B-4A93-B95D-CE4DE725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378848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15F0A3-A3A8-4ECB-A8FA-AEC571BA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723DD-53B1-4C90-8F04-A77F2D41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ADD43-8671-4512-8F41-95CBD797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HISTORICAL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73F2E-2FAC-4550-AE37-2C0281D7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62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Old versus new classification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A2E25-E715-49E6-AEB5-3D32A0F2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d14a67d284a31"/>
          <a:stretch xmlns:a="http://schemas.openxmlformats.org/drawingml/2006/main"/>
        </p:blipFill>
        <p:spPr>
          <a:xfrm xmlns:a="http://schemas.openxmlformats.org/drawingml/2006/main">
            <a:off x="838200" y="2286000"/>
            <a:ext cx="5905500" cy="2952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8FAAC-76C2-4BFC-AAF4-AC2055AF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71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AEB10-AE9D-4104-80BC-82E9A7BA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095500"/>
            <a:ext cx="36290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The old condensate_evaluation labels were compared against final_control_guided_class where track identity allowed.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F9EC3-04CD-443F-BD3C-131FC3C8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27ECD-68A3-43FF-B2BF-60CFE601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762250"/>
            <a:ext cx="36290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The stricter model asks a different question: is the target track distinct from NLS, H2B-bound, and MCM2-bound controls?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85A2A-C732-4E92-A1F9-9313D3E5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05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9C628-2798-43AD-8D08-575310DB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29000"/>
            <a:ext cx="36290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Old trapping-like should be read as a broad historical label, not the same as target-specific trapping-like.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1DC35-5CE4-415A-85F0-AF0092AF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Control-guided diagnostics and separability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D5595-36E6-45FF-8632-D93341C3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973859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D1F736-EE6B-4F04-8646-DF4D7BC0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54E9A-DC57-4752-A5C7-5B2653D4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3425E-26C6-433C-BDEA-204842D5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GATE FAILURES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429E8-8792-4131-A863-C03C3690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62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Why no target-specific trapping-like tracks?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CF180-3115-45D1-B61D-E4013387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91FC0-D63B-4DAA-8B9E-D8637609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Temporal support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F7071-DC3F-476B-97F1-158B8510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4787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01118-26E5-4857-A009-65347C5C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4787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E093F6-0494-46CD-B0B3-7331B015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100.0%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F5079-2276-4953-8B3A-F5722550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Control outlier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6E928-2419-43E8-8898-80818933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6697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366EC-3ED9-42A9-8775-4DC8FC14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66975"/>
            <a:ext cx="243544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6940C-9D81-4DD0-BA3B-FC1A5928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193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94.7%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7F638-222E-46FC-A56D-9CCDA62B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Not H2B-like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3F6FB-70B2-400A-9E6D-FBFF2624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8607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FC8B27-BB75-459B-9792-77861560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86075"/>
            <a:ext cx="203682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D403AE-4E10-4856-BA6A-E3933250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384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79.2%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593CCA-796F-4CC9-AED8-8E017A5C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Diffusive burst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8536A2-6580-4F44-8A76-6ABB5E26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0517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ED816D-9F6C-45DB-BE6C-CE7A2FE6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05175"/>
            <a:ext cx="42948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F1414E-75EE-4783-831F-A4B4CD40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575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16.7%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C32534-7AC1-4CB4-8232-09CF0DE4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Not free-like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9B3ACE-1BFD-48CE-9A4E-BC762DF2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2427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FE2E7B-4C96-486F-9C81-C0749F54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24275"/>
            <a:ext cx="26231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6090F5-C0FE-41EF-91FB-F51B669A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766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10.2%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FF6FAA-DC3C-43F9-A36E-6603C998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Not MCM2-like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117F08-6AAD-4C90-A0BB-6CB4D029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4337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119136-BF61-4321-999D-12E040A8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43375"/>
            <a:ext cx="6686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58EDD5-DB1D-408A-B370-09C1AA7D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957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2.6%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f8bdee53ac4484"/>
          <a:stretch xmlns:a="http://schemas.openxmlformats.org/drawingml/2006/main"/>
        </p:blipFill>
        <p:spPr>
          <a:xfrm xmlns:a="http://schemas.openxmlformats.org/drawingml/2006/main">
            <a:off x="6334125" y="2232422"/>
            <a:ext cx="4762500" cy="2678906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D35911-2850-42C3-A886-97857573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09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Top bottleneck: temporal support failed for 100.0% of target tracks, followed by control-outlier and not-H2B-like gates.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024DB9-455C-4893-B8C9-5B0A71D2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Control-guided diagnostics and separability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32B21A-C0CA-4F5A-AB5B-2327E0D6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144487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66877C-BAA7-41F3-B72B-5D589A88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58527-E731-45DE-AEB7-01195504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47DFF-26CF-460B-802A-1448085B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NEAR MISSES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276E8-6D2A-4584-B3C7-27CC6A40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62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Ambiguous tracks are the manual-review pool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5AB97-8CA4-4E5B-893B-258D17F2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B06DE-4389-41F7-AE30-89498A26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400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67B71-F2E0-4270-AAE6-87CDED4A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20B93-7D25-430F-A224-FDCE89C1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1,214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2F713-5995-400C-A732-FBF86D17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ambiguous TDP43/NONO tracks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12A49-ABED-4945-921D-38140558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2400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2133F-AB80-4C50-84FA-A87288A5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854DA-0AB5-490C-97EF-70057379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0030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Top 100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29DBF-5D95-4540-874C-7BA7BAB6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38450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ranked review 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D7EED-ADBE-49E9-A117-BBC8629A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34CCC-D0B9-436D-A280-B5979451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95750"/>
            <a:ext cx="9296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Ambiguous means the track does not confidently fit a control-like class, but also did not pass every target-specific gate.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2844DC-90D8-41E6-9719-47A6A839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DFC837-64BA-4E66-B103-9C9B40F7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72000"/>
            <a:ext cx="9296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The ranked table prioritizes high trapping/temporal/control-outlier scores and sufficient track length.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A029B-A4FE-4262-A398-030952BE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24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0E80BC-CD86-4F8D-BD04-356E257C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48250"/>
            <a:ext cx="9296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These are candidate trapping-like behavior records for visual inspection, not validated condensate-localized tracks.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A386B-6413-40E7-83E0-8F9ECB0B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Control-guided diagnostics and separability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C9D46-607D-48E3-BF8B-0223A6FC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007570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9DD4B0-0AB8-480A-BC82-96616637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8A22D-01A9-438A-9511-97C815D9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CFDDE-DD4E-41AC-9693-AE3B17C6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GENOTYPE AND TREATMENT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8421D-6055-461B-9E23-F39E8ADD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62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Expanded TDP43 condition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0AEC7-5915-4167-AE8A-9D904B67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13ba9b7064313"/>
          <a:stretch xmlns:a="http://schemas.openxmlformats.org/drawingml/2006/main"/>
        </p:blipFill>
        <p:spPr>
          <a:xfrm xmlns:a="http://schemas.openxmlformats.org/drawingml/2006/main">
            <a:off x="628650" y="2286000"/>
            <a:ext cx="4953000" cy="247650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00a03398f4ae7"/>
          <a:stretch xmlns:a="http://schemas.openxmlformats.org/drawingml/2006/main"/>
        </p:blipFill>
        <p:spPr>
          <a:xfrm xmlns:a="http://schemas.openxmlformats.org/drawingml/2006/main">
            <a:off x="6048375" y="2286000"/>
            <a:ext cx="4953000" cy="2476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087B7-64F9-4A88-AF67-E05CEAC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43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CBDDE-CAA8-41D0-9C71-76C14165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67375"/>
            <a:ext cx="977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Current final-classification table contains WT control TDP43 tracks; expanded folders were inventoried for future batch outputs.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40659E-2DDD-4F44-B0B4-2A389767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67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88BA1-30EE-4A14-9B4E-1FC57701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91225"/>
            <a:ext cx="977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Replicate-level interpretation is cautious because some expected folders currently have no generated classification rows.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36E2B-05B1-42A8-84AA-EC7A8116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Control-guided diagnostics and separability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FA263-6FFB-4DC4-BA9A-5D3127AA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1116108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F230D1-E509-41E0-AB4F-B4E047FF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0467B-32EE-4F74-BE64-F2BFB7CA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C2346-C2B4-4B8C-8250-44581F72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WHAT IS SUPPORTED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FC0BB-59F7-4F65-8039-7DFEB373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62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Biological interpretation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A0909-D2C2-4E40-80D5-690E611A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6DFE7-4157-45C1-8402-5D34F704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28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AD8FB-B098-4717-B3C9-319066AF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677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Supported: H2B_Bound and MCM2_Bound are partly distinct motion references.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86042-9EBB-4145-B889-670171E8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CDE71-297F-4627-BC34-3E3A87DE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05075"/>
            <a:ext cx="9677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Supported: target tracks often overlap control-like dynamics and failed temporal support in this gate set.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8DEA5-DFA2-489A-9166-35E18886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3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971F1-9ECB-4478-AAA8-9D1F5B26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57525"/>
            <a:ext cx="9677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Not proven: physical condensate localization, paraspeckle localization, or pure negative-control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74B5D-0DBE-4CA5-88A0-EEF68A17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86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A2145-1DD2-4DAB-A7A4-04215A14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9975"/>
            <a:ext cx="9677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Best wording: candidate target-specific trapping-like dynamics, motion pattern consistent with confinement/trapping, or not explained by current controls.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C27F0-441D-4B39-B4E6-F120B583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Control-guided diagnostics and separability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00550-4EAB-45F3-BFB4-953CF614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2994938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AA87BE-A054-4E2E-B69D-CE85CDF5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7DD33-95EF-4BE6-B480-E6A27DB2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37563-F950-4D38-B0B9-92746427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ACTION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970C4-4BF4-4600-9398-FDF21605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62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Recommended next steps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BB7F6-1DAE-4516-8FD0-B0999F1B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DA878-E855-4E2D-9D15-85414998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33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25736-7666-4F69-85A2-739D9B9B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57375"/>
            <a:ext cx="9677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Inspect the top ambiguous near-miss tracks against raw movies and localization quality.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DB6AA-09BF-42F5-8202-9B8E6FBD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9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5F58E-6818-40F7-9127-6BFFF324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9677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Validate candidate trapping-like behavior with condensate or paraspeckle markers rather than tracking alone.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5E452-2D5A-483E-B971-E7602DF0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6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B8A59-65D4-46D9-A43E-BAB65046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9875"/>
            <a:ext cx="9677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Keep H2B_Bound and MCM2_Bound separate for now, but report overlap explicitly.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99F2F-1070-41B5-9265-C18C091C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62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08FCB-B62B-42A1-89A6-FE9A8082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9677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Review temporal-support thresholds because that gate is the dominant bottleneck in the current output.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5BE44-6BFD-47AC-A36B-AF82316D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1D61E-7BC7-415B-8822-9DBFF407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9677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Rerun final classification after expanded TDP43 condition folders have complete analysis outputs.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7CE9B0-CCDC-42C3-8D7C-375B932A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Control-guided diagnostics and separability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D1756C-2ED8-4998-B368-EC429BB8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780178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A79DB0-A52C-44C7-89E3-BDC749E5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F76C3-95BF-4CC8-A332-A317E629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848AB-34D7-4413-B3AF-B0B9DA59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DELIVERABLES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A2FD4-BC47-4E1F-B9FA-07DB2F46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62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File locations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0EBF5-2C74-4E39-B196-CE1C29D4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6AE1B-3AED-44DA-9722-D7FD54E6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Results folder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9148A-D308-4E5B-92C3-38C652AA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7762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D:/Tianzi/condensate_classification_pj/control_guided_classification/diagnostics_and_separability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2386B-DBCF-41E4-A311-81B32A9C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Core 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6A59A-6320-421B-A0FC-1E4FFB7C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control_separability_report.md, target_gate_failure_report.md, easy_interpretation_diagnostics.md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41C11-D08D-455A-B9CF-9C2AA25E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Review tables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69375-4B07-4645-BC80-FFC5A28D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14750"/>
            <a:ext cx="790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ambiguous_target_tracks_for_review.csv, ambiguous_target_tracks_ranked_top100.csv, target_gate_failure_table.csv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77B3D-A390-4F42-81EB-A1155F97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Presentation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4A93E-CF14-4947-8CDF-00F42530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0"/>
            <a:ext cx="7762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presentation/control_guided_diagnostics_and_separability.pptx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22354-5B7F-42DF-A13A-3F0E2E1C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Control-guided diagnostics and separability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F96B50-975F-418B-855C-6CE519EB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145900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2026-05-27T19:48:15.4450000Z</dcterms:created>
  <dcterms:modified xsi:type="dcterms:W3CDTF">2026-05-27T19:48:15.4450000Z</dcterms:modified>
</coreProperties>
</file>